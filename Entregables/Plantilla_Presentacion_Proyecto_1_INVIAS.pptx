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016"/>
    <p:restoredTop sz="94659"/>
  </p:normalViewPr>
  <p:slideViewPr>
    <p:cSldViewPr snapToGrid="0" snapToObjects="1">
      <p:cViewPr varScale="1">
        <p:scale>
          <a:sx n="146" d="100"/>
          <a:sy n="146" d="100"/>
        </p:scale>
        <p:origin x="106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3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23052"/>
                </a:solidFill>
              </a:defRPr>
            </a:pPr>
            <a:r>
              <a:t>Proyecto 1 — Analítica de contratación pública</a:t>
            </a:r>
          </a:p>
          <a:p>
            <a:pPr>
              <a:defRPr sz="1900">
                <a:solidFill>
                  <a:srgbClr val="2366AA"/>
                </a:solidFill>
              </a:defRPr>
            </a:pPr>
            <a:r>
              <a:t>INVIAS | Instituto Nacional de Vías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926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32B32"/>
                </a:solidFill>
              </a:defRPr>
            </a:pPr>
            <a:r>
              <a:t>20.718 contratos analizados</a:t>
            </a:r>
          </a:p>
          <a:p>
            <a:pPr>
              <a:defRPr sz="1500">
                <a:solidFill>
                  <a:srgbClr val="647382"/>
                </a:solidFill>
              </a:defRPr>
            </a:pPr>
            <a:r>
              <a:t>De los datos a la decisión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60520"/>
            <a:ext cx="3383280" cy="123444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4306824"/>
            <a:ext cx="3017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t>01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Concentración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4160520"/>
            <a:ext cx="3383280" cy="123444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17720" y="4306824"/>
            <a:ext cx="3017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t>02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Territorio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4160520"/>
            <a:ext cx="3383280" cy="123444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21040" y="4306824"/>
            <a:ext cx="3017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t>03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Ejecución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382"/>
                </a:solidFill>
              </a:defRPr>
            </a:pPr>
            <a:r>
              <a:t>Proyecto 1 | INVIAS | Universidad de los Andes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23052"/>
                </a:solidFill>
                <a:latin typeface="Aptos Display"/>
              </a:defRPr>
            </a:pPr>
            <a:r>
              <a:t>01 | Concentración de la contratación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9144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382"/>
                </a:solidFill>
                <a:latin typeface="Aptos"/>
              </a:defRPr>
            </a:pPr>
            <a:r>
              <a:t>¿Cómo se concentra la contratación de INVIAS entre proveedores, modalidades y tipos de contrato?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08760"/>
            <a:ext cx="3200400" cy="182880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59" y="1655063"/>
            <a:ext cx="2834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t>CIFRA CLAVE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[Insertar cifra principal de Pregunta 1]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520440"/>
            <a:ext cx="3200400" cy="182880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59" y="3666744"/>
            <a:ext cx="2834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t>HALLAZGO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[Insertar segundo hallazgo cuantitativo]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60520" y="1508760"/>
            <a:ext cx="7315200" cy="384048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34840" y="1783080"/>
            <a:ext cx="6766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23052"/>
                </a:solidFill>
              </a:defRPr>
            </a:pPr>
            <a:r>
              <a:t>VISUALIZACIÓN PRINCIPAL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45223" y="2788920"/>
            <a:ext cx="1854354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2366AA"/>
                </a:solidFill>
              </a:defRPr>
            </a:pPr>
            <a:r>
              <a:rPr dirty="0"/>
              <a:t>INSIGHT EJECUTIVO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382"/>
                </a:solidFill>
              </a:defRPr>
            </a:pPr>
            <a:r>
              <a:t>Proyecto 1 | INVIAS | Universidad de los Andes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23052"/>
                </a:solidFill>
                <a:latin typeface="Aptos Display"/>
              </a:defRPr>
            </a:pPr>
            <a:r>
              <a:t>02 | Distribución y trazabilidad territorial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9144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382"/>
                </a:solidFill>
                <a:latin typeface="Aptos"/>
              </a:defRPr>
            </a:pPr>
            <a:r>
              <a:t>¿Dónde se concentran los recursos y qué nivel de trazabilidad territorial puede obtenerse?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6583680" cy="425196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6035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23052"/>
                </a:solidFill>
              </a:defRPr>
            </a:pPr>
            <a:r>
              <a:t>MAPA DE VALOR CONTRATADO POR DEPARTAMENTO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1417320"/>
            <a:ext cx="3931920" cy="150876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26679" y="1563624"/>
            <a:ext cx="3566160" cy="1234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t>HALLAZGO 01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43 % de los contratos puede ubicarse en un departamento, pero concentra el 77,9 % del valor. Lo no ubicable es el 56,7 % de los registros y solo el 22,1 % del dinero.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3108960"/>
            <a:ext cx="3931920" cy="150876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26679" y="3255264"/>
            <a:ext cx="3566160" cy="1234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t>HALLAZGO 02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La trazabilidad se está perdiendo: 85–95 % entre 2018 y 2022, 76 % en 2023 y 2024, y 46 % en 2025.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43800" y="4800600"/>
            <a:ext cx="3931920" cy="86868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26679" y="4946904"/>
            <a:ext cx="35661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DC872D"/>
                </a:solidFill>
              </a:defRPr>
            </a:pPr>
            <a:r>
              <a:t>IMPLICACIÓN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Uno de cada cinco pesos no es rastreable territorialmente desde lo que publica el SECOP II.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382"/>
                </a:solidFill>
              </a:defRPr>
            </a:pPr>
            <a:r>
              <a:t>Proyecto 1 | INVIAS | Universidad de los Andes</a:t>
            </a:r>
          </a:p>
        </p:txBody>
      </p:sp>
      <p:pic>
        <p:nvPicPr>
          <p:cNvPr id="14" name="Picture 13" descr="mapa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4462" y="2103120"/>
            <a:ext cx="2634915" cy="33375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382"/>
                </a:solidFill>
              </a:defRPr>
            </a:pPr>
            <a:r>
              <a:t>Proyecto 1 | INVIAS | Universidad de los Andes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23052"/>
                </a:solidFill>
                <a:latin typeface="Aptos Display"/>
              </a:defRPr>
            </a:pPr>
            <a:r>
              <a:t>03 | Ejecución financiera y modificaciones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9144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382"/>
                </a:solidFill>
                <a:latin typeface="Aptos"/>
              </a:defRPr>
            </a:pPr>
            <a:r>
              <a:t>¿Dónde debemos focalizar el seguimiento?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1298448"/>
            <a:ext cx="3429000" cy="1024128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7240" y="1417319"/>
            <a:ext cx="3154680" cy="7955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2366AA"/>
                </a:solidFill>
              </a:defRPr>
            </a:pPr>
            <a:r>
              <a:t>20.718</a:t>
            </a:r>
          </a:p>
          <a:p>
            <a:pPr algn="ctr">
              <a:defRPr sz="1000">
                <a:solidFill>
                  <a:srgbClr val="232B32"/>
                </a:solidFill>
              </a:defRPr>
            </a:pPr>
            <a:r>
              <a:t>contratos analizados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0832" y="1298448"/>
            <a:ext cx="3429000" cy="1024128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07992" y="1417319"/>
            <a:ext cx="3154680" cy="7955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DC872D"/>
                </a:solidFill>
              </a:defRPr>
            </a:pPr>
            <a:r>
              <a:t>54,6 %</a:t>
            </a:r>
          </a:p>
          <a:p>
            <a:pPr algn="ctr">
              <a:defRPr sz="1000">
                <a:solidFill>
                  <a:srgbClr val="232B32"/>
                </a:solidFill>
              </a:defRPr>
            </a:pPr>
            <a:r>
              <a:t>con 0 % de ejecución registrada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01583" y="1298448"/>
            <a:ext cx="3429000" cy="1024128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38744" y="1417319"/>
            <a:ext cx="3154680" cy="7955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2D8264"/>
                </a:solidFill>
              </a:defRPr>
            </a:pPr>
            <a:r>
              <a:t>750</a:t>
            </a:r>
          </a:p>
          <a:p>
            <a:pPr algn="ctr">
              <a:defRPr sz="1000">
                <a:solidFill>
                  <a:srgbClr val="232B32"/>
                </a:solidFill>
              </a:defRPr>
            </a:pPr>
            <a:r>
              <a:t>contratos prioritarios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2542032"/>
            <a:ext cx="6720840" cy="2697480"/>
          </a:xfrm>
          <a:prstGeom prst="roundRect">
            <a:avLst/>
          </a:prstGeom>
          <a:solidFill>
            <a:srgbClr val="FFFFFF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14400" y="2651759"/>
            <a:ext cx="6172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23052"/>
                </a:solidFill>
              </a:defRPr>
            </a:pPr>
            <a:r>
              <a:rPr dirty="0"/>
              <a:t>VISUALIZACIÓN PRINCIPAL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3703320"/>
            <a:ext cx="58978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647382"/>
                </a:solidFill>
              </a:defRPr>
            </a:pPr>
            <a:r>
              <a:t>INSERTAR PANTALLAZO / GRÁFICO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370832"/>
            <a:ext cx="5897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382"/>
                </a:solidFill>
              </a:defRPr>
            </a:pPr>
            <a:r>
              <a:t>Sugerido: distribución por nivel de ejecución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589520" y="2542032"/>
            <a:ext cx="3941063" cy="1207008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754112" y="2688336"/>
            <a:ext cx="3611879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366AA"/>
                </a:solidFill>
              </a:defRPr>
            </a:pPr>
            <a:r>
              <a:t>REGLA DE PRIORIZACIÓN</a:t>
            </a:r>
          </a:p>
          <a:p>
            <a:pPr>
              <a:spcBef>
                <a:spcPts val="500"/>
              </a:spcBef>
              <a:defRPr sz="1100">
                <a:solidFill>
                  <a:srgbClr val="232B32"/>
                </a:solidFill>
              </a:defRPr>
            </a:pPr>
            <a:r>
              <a:t>P90 de recursos pendientes de ejecución + P90 de días adicionados.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589520" y="3913632"/>
            <a:ext cx="3941063" cy="132588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54112" y="4059936"/>
            <a:ext cx="3611879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C872D"/>
                </a:solidFill>
              </a:defRPr>
            </a:pPr>
            <a:r>
              <a:t>SEÑAL CLAVE</a:t>
            </a:r>
          </a:p>
          <a:p>
            <a:pPr>
              <a:spcBef>
                <a:spcPts val="500"/>
              </a:spcBef>
              <a:defRPr sz="1100">
                <a:solidFill>
                  <a:srgbClr val="232B32"/>
                </a:solidFill>
              </a:defRPr>
            </a:pPr>
            <a:r>
              <a:t>100 % de los contratos prioritarios presenta extensión contractual.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532120"/>
            <a:ext cx="106070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123052"/>
                </a:solidFill>
              </a:defRPr>
            </a:pPr>
            <a:r>
              <a:t>INSIGHT: pasar de 20.718 contratos a un universo focalizado de 750 casos para seguimiento.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382"/>
                </a:solidFill>
              </a:defRPr>
            </a:pPr>
            <a:r>
              <a:t>Proyecto 1 | INVIAS | Universidad de los Andes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E6441D66-A37D-A733-0D1F-6D27C683E3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1467" y="3011184"/>
            <a:ext cx="3980905" cy="207007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23052"/>
                </a:solidFill>
                <a:latin typeface="Aptos Display"/>
              </a:defRPr>
            </a:pPr>
            <a:r>
              <a:t>De los datos a la gestión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9144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382"/>
                </a:solidFill>
                <a:latin typeface="Aptos"/>
              </a:defRPr>
            </a:pPr>
            <a:r>
              <a:t>El análisis transforma información masiva en señales de seguimiento focalizadas.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057400"/>
            <a:ext cx="2423160" cy="155448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203704"/>
            <a:ext cx="2057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t>DATOS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20.718 contratos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251460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2366AA"/>
                </a:solidFill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02152" y="2057400"/>
            <a:ext cx="2423160" cy="155448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85032" y="2203704"/>
            <a:ext cx="2057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t>ANÁLISIS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Patrones + señales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71032" y="251460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2366AA"/>
                </a:solidFill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9944" y="2057400"/>
            <a:ext cx="2423160" cy="155448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92824" y="2203704"/>
            <a:ext cx="2057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t>PRIORIZACIÓN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750 contratos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78824" y="251460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2366AA"/>
                </a:solidFill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17736" y="2057400"/>
            <a:ext cx="2423160" cy="155448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500616" y="2203704"/>
            <a:ext cx="2057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8264"/>
                </a:solidFill>
              </a:defRPr>
            </a:pPr>
            <a:r>
              <a:t>SEGUIMIENTO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Información focalizada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343400"/>
            <a:ext cx="99669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23052"/>
                </a:solidFill>
              </a:defRPr>
            </a:pPr>
            <a:r>
              <a:t>El análisis no reemplaza la revisión contractual: ayuda a decidir dónde concentrarla.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382"/>
                </a:solidFill>
              </a:defRPr>
            </a:pPr>
            <a:r>
              <a:t>Proyecto 1 | INVIAS | Universidad de los Andes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23052"/>
                </a:solidFill>
                <a:latin typeface="Aptos Display"/>
              </a:defRPr>
            </a:pPr>
            <a:r>
              <a:t>El tablero | De la analítica a la operación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9144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382"/>
                </a:solidFill>
                <a:latin typeface="Aptos"/>
              </a:defRPr>
            </a:pPr>
            <a:r>
              <a:t>Explorar • Analizar • Priorizar • Consultar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7498079" cy="438912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6949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647382"/>
                </a:solidFill>
              </a:defRPr>
            </a:pPr>
            <a:r>
              <a:t>INSERTAR CAPTURA DEL TABLERO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58200" y="1417320"/>
            <a:ext cx="2971800" cy="77724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41080" y="1563624"/>
            <a:ext cx="2606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t>EXPLORAR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Filtros interactivos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58200" y="2423160"/>
            <a:ext cx="2971800" cy="77724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41080" y="2569464"/>
            <a:ext cx="2606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t>ANALIZAR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Indicadores y visualizaciones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58200" y="3429000"/>
            <a:ext cx="2971800" cy="77724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41080" y="3575304"/>
            <a:ext cx="2606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8264"/>
                </a:solidFill>
              </a:defRPr>
            </a:pPr>
            <a:r>
              <a:t>PRIORIZAR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Contratos para seguimiento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58200" y="4434840"/>
            <a:ext cx="2971800" cy="77724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41080" y="4581144"/>
            <a:ext cx="2606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t>CONSULTAR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Detalle contractual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989320"/>
            <a:ext cx="10607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23052"/>
                </a:solidFill>
              </a:defRPr>
            </a:pPr>
            <a:r>
              <a:t>DEMO EN VIVO  |  Vista general → Q1 → Q2 → Q3 → filtros → 750 prioritarios → detalle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382"/>
                </a:solidFill>
              </a:defRPr>
            </a:pPr>
            <a:r>
              <a:t>Proyecto 1 | INVIAS | Demo del tablero | Máximo 10 minutos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367</Words>
  <Application>Microsoft Macintosh PowerPoint</Application>
  <PresentationFormat>Panorámica</PresentationFormat>
  <Paragraphs>76</Paragraphs>
  <Slides>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Edwin Hernando Calderon Garcia</cp:lastModifiedBy>
  <cp:revision>3</cp:revision>
  <dcterms:created xsi:type="dcterms:W3CDTF">2013-01-27T09:14:16Z</dcterms:created>
  <dcterms:modified xsi:type="dcterms:W3CDTF">2026-09-13T22:35:48Z</dcterms:modified>
  <cp:category/>
</cp:coreProperties>
</file>