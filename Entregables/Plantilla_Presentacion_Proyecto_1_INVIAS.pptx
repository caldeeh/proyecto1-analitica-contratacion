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16"/>
    <p:restoredTop sz="94659"/>
  </p:normalViewPr>
  <p:slideViewPr>
    <p:cSldViewPr snapToGrid="0" snapToObjects="1">
      <p:cViewPr varScale="1">
        <p:scale>
          <a:sx n="146" d="100"/>
          <a:sy n="146" d="100"/>
        </p:scale>
        <p:origin x="10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3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23052"/>
                </a:solidFill>
              </a:defRPr>
            </a:pPr>
            <a:r>
              <a:t>Proyecto 1 — Analítica de contratación pública</a:t>
            </a:r>
          </a:p>
          <a:p>
            <a:pPr>
              <a:defRPr sz="1900">
                <a:solidFill>
                  <a:srgbClr val="2366AA"/>
                </a:solidFill>
              </a:defRPr>
            </a:pPr>
            <a:r>
              <a:t>INVIAS | Instituto Nacional de Vías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926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B32"/>
                </a:solidFill>
              </a:defRPr>
            </a:pPr>
            <a:r>
              <a:t>20.718 contratos analizados</a:t>
            </a:r>
          </a:p>
          <a:p>
            <a:pPr>
              <a:defRPr sz="1500">
                <a:solidFill>
                  <a:srgbClr val="647382"/>
                </a:solidFill>
              </a:defRPr>
            </a:pPr>
            <a:r>
              <a:t>De los datos a la decisión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Concentración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Territorio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Ejecución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01 | Concentración de la contratación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¿Cómo se concentra la contratación de INVIAS entre proveedores, modalidades y tipos de contrato?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200400" cy="182880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655063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CIFRA CLAVE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[Insertar cifra principal de Pregunta 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200400" cy="182880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3666744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HALLAZGO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[Insertar segundo hallazgo cuantitativo]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508760"/>
            <a:ext cx="7315200" cy="3840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6766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t>VISUALIZACIÓN PRINCIPAL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5223" y="2788920"/>
            <a:ext cx="185435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366AA"/>
                </a:solidFill>
              </a:defRPr>
            </a:pPr>
            <a:r>
              <a:rPr dirty="0"/>
              <a:t>INSIGHT EJECUTIVO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02 | Distribución y trazabilidad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¿Dónde se concentran los recursos y qué nivel de trazabilidad territorial puede obtenerse?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6583680" cy="42519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t>VISUALIZACIÓN TERRITORIAL PRINCIPAL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41732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563624"/>
            <a:ext cx="35661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HALLAZGO 01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[Cifra / hallazgo territorial]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310896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3255264"/>
            <a:ext cx="35661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HALLAZGO 02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[Cifra / hallazgo territorial]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4800600"/>
            <a:ext cx="3931920" cy="8686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4946904"/>
            <a:ext cx="35661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C872D"/>
                </a:solidFill>
              </a:defRPr>
            </a:pPr>
            <a:r>
              <a:t>IMPLICACIÓN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[Una frase ejecutiva]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03 | Ejecución financiera y modificaciones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¿Dónde debemos focalizar el seguimiento?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20.718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analizados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07992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872D"/>
                </a:solidFill>
              </a:defRPr>
            </a:pPr>
            <a:r>
              <a:t>54,6 %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 0 % de ejecución registrada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1583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38744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D8264"/>
                </a:solidFill>
              </a:defRPr>
            </a:pPr>
            <a:r>
              <a:t>750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prioritarios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2542032"/>
            <a:ext cx="6720840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2651759"/>
            <a:ext cx="6172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23052"/>
                </a:solidFill>
              </a:defRPr>
            </a:pPr>
            <a:r>
              <a:rPr dirty="0"/>
              <a:t>VISUALIZACIÓN PRINCIPAL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3703320"/>
            <a:ext cx="5897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647382"/>
                </a:solidFill>
              </a:defRPr>
            </a:pPr>
            <a:r>
              <a:t>INSERTAR PANTALLAZO / GRÁFICO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70832"/>
            <a:ext cx="5897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382"/>
                </a:solidFill>
              </a:defRPr>
            </a:pPr>
            <a:r>
              <a:t>Sugerido: distribución por nivel de ejecución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2542032"/>
            <a:ext cx="3941063" cy="120700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54112" y="2688336"/>
            <a:ext cx="3611879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366AA"/>
                </a:solidFill>
              </a:defRPr>
            </a:pPr>
            <a:r>
              <a:t>REGLA DE PRIORIZACIÓN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P90 de recursos pendientes de ejecución + P90 de días adicionados.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3913632"/>
            <a:ext cx="3941063" cy="13258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112" y="4059936"/>
            <a:ext cx="36118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872D"/>
                </a:solidFill>
              </a:defRPr>
            </a:pPr>
            <a:r>
              <a:t>SEÑAL CLAVE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100 % de los contratos prioritarios presenta extensión contractual.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32120"/>
            <a:ext cx="10607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123052"/>
                </a:solidFill>
              </a:defRPr>
            </a:pPr>
            <a:r>
              <a:t>INSIGHT: pasar de 20.718 contratos a un universo focalizado de 750 casos para seguimiento.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6441D66-A37D-A733-0D1F-6D27C683E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467" y="3011184"/>
            <a:ext cx="3980905" cy="207007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De los datos a la gestión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El análisis transforma información masiva en señales de seguimiento focalizadas.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DATOS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20.718 contratos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85032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ANÁLISIS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Patrones + señales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1032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944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92824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PRIORIZACIÓN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750 contratos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17736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0616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t>SEGUIMIENTO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Información focalizada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9966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23052"/>
                </a:solidFill>
              </a:defRPr>
            </a:pPr>
            <a:r>
              <a:t>El análisis no reemplaza la revisión contractual: ayuda a decidir dónde concentrarla.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El tablero | De la analítica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Explorar • Analizar • Priorizar • Consultar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7498079" cy="438912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949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647382"/>
                </a:solidFill>
              </a:defRPr>
            </a:pPr>
            <a:r>
              <a:t>INSERTAR CAPTURA DEL TABLERO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41732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41080" y="156362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EXPLORAR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Filtros interactivos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42316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41080" y="256946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ANALIZAR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Indicadores y visualizaciones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342900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1080" y="357530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t>PRIORIZAR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Contratos para seguimiento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443484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41080" y="458114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CONSULTAR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Detalle contractual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23052"/>
                </a:solidFill>
              </a:defRPr>
            </a:pPr>
            <a:r>
              <a:t>DEMO EN VIVO  |  Vista general → Q1 → Q2 → Q3 → filtros → 750 prioritarios → detalle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Demo del tablero | Máximo 10 minutos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367</Words>
  <Application>Microsoft Macintosh PowerPoint</Application>
  <PresentationFormat>Panorámica</PresentationFormat>
  <Paragraphs>76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Edwin Hernando Calderon Garcia</cp:lastModifiedBy>
  <cp:revision>3</cp:revision>
  <dcterms:created xsi:type="dcterms:W3CDTF">2013-01-27T09:14:16Z</dcterms:created>
  <dcterms:modified xsi:type="dcterms:W3CDTF">2026-09-13T22:35:48Z</dcterms:modified>
  <cp:category/>
</cp:coreProperties>
</file>