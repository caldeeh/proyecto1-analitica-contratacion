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36"/>
    <p:restoredTop sz="94659"/>
  </p:normalViewPr>
  <p:slideViewPr>
    <p:cSldViewPr snapToGrid="0" snapToObjects="1">
      <p:cViewPr varScale="1">
        <p:scale>
          <a:sx n="146" d="100"/>
          <a:sy n="146" d="100"/>
        </p:scale>
        <p:origin x="128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win Calderón García" userId="2d031e888a90ae0e" providerId="LiveId" clId="{F30428A9-2CCB-5619-852C-C0A1C93BAE6D}"/>
    <pc:docChg chg="undo custSel modSld">
      <pc:chgData name="Edwin Calderón García" userId="2d031e888a90ae0e" providerId="LiveId" clId="{F30428A9-2CCB-5619-852C-C0A1C93BAE6D}" dt="2026-09-15T00:40:08.704" v="121" actId="20577"/>
      <pc:docMkLst>
        <pc:docMk/>
      </pc:docMkLst>
      <pc:sldChg chg="addSp delSp modSp mod">
        <pc:chgData name="Edwin Calderón García" userId="2d031e888a90ae0e" providerId="LiveId" clId="{F30428A9-2CCB-5619-852C-C0A1C93BAE6D}" dt="2026-09-15T00:38:26.787" v="81" actId="1440"/>
        <pc:sldMkLst>
          <pc:docMk/>
          <pc:sldMk cId="0" sldId="257"/>
        </pc:sldMkLst>
        <pc:spChg chg="mod">
          <ac:chgData name="Edwin Calderón García" userId="2d031e888a90ae0e" providerId="LiveId" clId="{F30428A9-2CCB-5619-852C-C0A1C93BAE6D}" dt="2026-09-15T00:37:06.581" v="78" actId="123"/>
          <ac:spMkLst>
            <pc:docMk/>
            <pc:sldMk cId="0" sldId="257"/>
            <ac:spMk id="6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7:20.375" v="80" actId="123"/>
          <ac:spMkLst>
            <pc:docMk/>
            <pc:sldMk cId="0" sldId="257"/>
            <ac:spMk id="8" creationId="{00000000-0000-0000-0000-000000000000}"/>
          </ac:spMkLst>
        </pc:spChg>
        <pc:spChg chg="del">
          <ac:chgData name="Edwin Calderón García" userId="2d031e888a90ae0e" providerId="LiveId" clId="{F30428A9-2CCB-5619-852C-C0A1C93BAE6D}" dt="2026-09-15T00:36:23.881" v="73" actId="478"/>
          <ac:spMkLst>
            <pc:docMk/>
            <pc:sldMk cId="0" sldId="257"/>
            <ac:spMk id="11" creationId="{00000000-0000-0000-0000-000000000000}"/>
          </ac:spMkLst>
        </pc:spChg>
        <pc:picChg chg="add mod">
          <ac:chgData name="Edwin Calderón García" userId="2d031e888a90ae0e" providerId="LiveId" clId="{F30428A9-2CCB-5619-852C-C0A1C93BAE6D}" dt="2026-09-15T00:38:26.787" v="81" actId="1440"/>
          <ac:picMkLst>
            <pc:docMk/>
            <pc:sldMk cId="0" sldId="257"/>
            <ac:picMk id="13" creationId="{038A5DD4-2999-768C-C07A-AE60D3567394}"/>
          </ac:picMkLst>
        </pc:picChg>
      </pc:sldChg>
      <pc:sldChg chg="addSp modSp mod">
        <pc:chgData name="Edwin Calderón García" userId="2d031e888a90ae0e" providerId="LiveId" clId="{F30428A9-2CCB-5619-852C-C0A1C93BAE6D}" dt="2026-09-15T00:33:55.954" v="72" actId="6549"/>
        <pc:sldMkLst>
          <pc:docMk/>
          <pc:sldMk cId="0" sldId="258"/>
        </pc:sldMkLst>
        <pc:spChg chg="mod">
          <ac:chgData name="Edwin Calderón García" userId="2d031e888a90ae0e" providerId="LiveId" clId="{F30428A9-2CCB-5619-852C-C0A1C93BAE6D}" dt="2026-09-15T00:33:18.658" v="18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55.954" v="72" actId="6549"/>
          <ac:spMkLst>
            <pc:docMk/>
            <pc:sldMk cId="0" sldId="258"/>
            <ac:spMk id="4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4T20:38:30.440" v="3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28.656" v="21" actId="123"/>
          <ac:spMkLst>
            <pc:docMk/>
            <pc:sldMk cId="0" sldId="258"/>
            <ac:spMk id="8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26.508" v="20" actId="12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13.858" v="16" actId="14100"/>
          <ac:spMkLst>
            <pc:docMk/>
            <pc:sldMk cId="0" sldId="258"/>
            <ac:spMk id="11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24.056" v="19" actId="123"/>
          <ac:spMkLst>
            <pc:docMk/>
            <pc:sldMk cId="0" sldId="258"/>
            <ac:spMk id="12" creationId="{00000000-0000-0000-0000-000000000000}"/>
          </ac:spMkLst>
        </pc:spChg>
        <pc:picChg chg="add mod">
          <ac:chgData name="Edwin Calderón García" userId="2d031e888a90ae0e" providerId="LiveId" clId="{F30428A9-2CCB-5619-852C-C0A1C93BAE6D}" dt="2026-09-14T20:38:36.488" v="5" actId="1440"/>
          <ac:picMkLst>
            <pc:docMk/>
            <pc:sldMk cId="0" sldId="258"/>
            <ac:picMk id="14" creationId="{219C6468-D23B-32F9-49F2-8CA61769BD6B}"/>
          </ac:picMkLst>
        </pc:picChg>
      </pc:sldChg>
      <pc:sldChg chg="modSp mod">
        <pc:chgData name="Edwin Calderón García" userId="2d031e888a90ae0e" providerId="LiveId" clId="{F30428A9-2CCB-5619-852C-C0A1C93BAE6D}" dt="2026-09-15T00:40:08.704" v="121" actId="20577"/>
        <pc:sldMkLst>
          <pc:docMk/>
          <pc:sldMk cId="0" sldId="260"/>
        </pc:sldMkLst>
        <pc:spChg chg="mod">
          <ac:chgData name="Edwin Calderón García" userId="2d031e888a90ae0e" providerId="LiveId" clId="{F30428A9-2CCB-5619-852C-C0A1C93BAE6D}" dt="2026-09-15T00:40:08.704" v="121" actId="20577"/>
          <ac:spMkLst>
            <pc:docMk/>
            <pc:sldMk cId="0" sldId="260"/>
            <ac:spMk id="15" creationId="{00000000-0000-0000-0000-000000000000}"/>
          </ac:spMkLst>
        </pc:spChg>
      </pc:sldChg>
      <pc:sldChg chg="addSp modSp mod">
        <pc:chgData name="Edwin Calderón García" userId="2d031e888a90ae0e" providerId="LiveId" clId="{F30428A9-2CCB-5619-852C-C0A1C93BAE6D}" dt="2026-09-14T20:40:01.017" v="12" actId="14100"/>
        <pc:sldMkLst>
          <pc:docMk/>
          <pc:sldMk cId="0" sldId="261"/>
        </pc:sldMkLst>
        <pc:picChg chg="add mod">
          <ac:chgData name="Edwin Calderón García" userId="2d031e888a90ae0e" providerId="LiveId" clId="{F30428A9-2CCB-5619-852C-C0A1C93BAE6D}" dt="2026-09-14T20:39:35.815" v="9" actId="1076"/>
          <ac:picMkLst>
            <pc:docMk/>
            <pc:sldMk cId="0" sldId="261"/>
            <ac:picMk id="17" creationId="{FD395C04-34D9-12B7-0238-8EB4CACB4F85}"/>
          </ac:picMkLst>
        </pc:picChg>
        <pc:picChg chg="add mod">
          <ac:chgData name="Edwin Calderón García" userId="2d031e888a90ae0e" providerId="LiveId" clId="{F30428A9-2CCB-5619-852C-C0A1C93BAE6D}" dt="2026-09-14T20:40:01.017" v="12" actId="14100"/>
          <ac:picMkLst>
            <pc:docMk/>
            <pc:sldMk cId="0" sldId="261"/>
            <ac:picMk id="18" creationId="{DA645B2B-7D39-25A3-0DFC-D4F4A4476022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3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23052"/>
                </a:solidFill>
              </a:defRPr>
            </a:pPr>
            <a:r>
              <a:t>Proyecto 1 — Analítica de contratación pública</a:t>
            </a:r>
          </a:p>
          <a:p>
            <a:pPr>
              <a:defRPr sz="1900">
                <a:solidFill>
                  <a:srgbClr val="2366AA"/>
                </a:solidFill>
              </a:defRPr>
            </a:pPr>
            <a:r>
              <a:t>INVIAS | Instituto Nacional de Vías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926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B32"/>
                </a:solidFill>
              </a:defRPr>
            </a:pPr>
            <a:r>
              <a:t>25.605 contratos analizados</a:t>
            </a:r>
          </a:p>
          <a:p>
            <a:pPr>
              <a:defRPr sz="1500">
                <a:solidFill>
                  <a:srgbClr val="647382"/>
                </a:solidFill>
              </a:defRPr>
            </a:pPr>
            <a:r>
              <a:t>De los datos a la decisión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Concentración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Territorio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Ejecución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01 | Concentración de la contratación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¿Cómo se concentra la contratación de INVIAS entre proveedores, modalidades y tipos de contrato?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200400" cy="182880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655063"/>
            <a:ext cx="283464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dirty="0"/>
              <a:t>CIFRA CLAVE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Los 10 principales proveedores concentran solo el 20,38 % del valor contratado y el HHI es cercano a 85 puntos, indicando baja concentración global por proveedor.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40080" y="3520440"/>
            <a:ext cx="3200400" cy="182880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3666744"/>
            <a:ext cx="2834640" cy="1461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dirty="0"/>
              <a:t>HALLAZGO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La concentración cambia significativamente según el tipo y modalidad contractual: los contratos de Obra representan el 15,4 % de los contratos, pero concentran el 66,3 % del valor contratado.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4160520" y="1508760"/>
            <a:ext cx="7315200" cy="3840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783080"/>
            <a:ext cx="6766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23052"/>
                </a:solidFill>
              </a:defRPr>
            </a:pPr>
            <a:r>
              <a:t>VISUALIZACIÓN PRINCIPAL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038A5DD4-2999-768C-C07A-AE60D3567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616" y="2129246"/>
            <a:ext cx="6035817" cy="295262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02 | Distribución y trazabilidad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573150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rPr dirty="0"/>
              <a:t>¿</a:t>
            </a:r>
            <a:r>
              <a:rPr dirty="0" err="1"/>
              <a:t>Dónde</a:t>
            </a:r>
            <a:r>
              <a:rPr dirty="0"/>
              <a:t> se </a:t>
            </a:r>
            <a:r>
              <a:rPr dirty="0" err="1"/>
              <a:t>concentran</a:t>
            </a:r>
            <a:r>
              <a:rPr dirty="0"/>
              <a:t> los </a:t>
            </a:r>
            <a:r>
              <a:rPr dirty="0" err="1"/>
              <a:t>recursos</a:t>
            </a:r>
            <a:r>
              <a:rPr dirty="0"/>
              <a:t> y </a:t>
            </a:r>
            <a:r>
              <a:rPr lang="es-419" dirty="0"/>
              <a:t>qué tan trazable es su ejecución </a:t>
            </a:r>
            <a:r>
              <a:rPr dirty="0"/>
              <a:t>territorial?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6583680" cy="42519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77340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23052"/>
                </a:solidFill>
              </a:defRPr>
            </a:pPr>
            <a:r>
              <a:rPr dirty="0"/>
              <a:t>VISUALIZACIÓN TERRITORIAL PRINCIPAL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417320"/>
            <a:ext cx="3931920" cy="15087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563624"/>
            <a:ext cx="35661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dirty="0"/>
              <a:t>HALLAZGO 01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El 77,9% del valor contratado ($39,1 billones) puede ubicarse territorialmente en 33 departamentos, permitiendo identificar dónde se concentra la contratación de INVIAS.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7543800" y="3108960"/>
            <a:ext cx="3931920" cy="15087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26679" y="3255264"/>
            <a:ext cx="35661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dirty="0"/>
              <a:t>HALLAZGO 02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La trazabilidad es desigual: 40,9% de los contratos se asocia a un único departamento, 2,3% involucra varios departamentos y 56,7% no permite una asignación territorial confiable.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7543800" y="4800599"/>
            <a:ext cx="3931920" cy="1238911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4946904"/>
            <a:ext cx="35661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C872D"/>
                </a:solidFill>
              </a:defRPr>
            </a:pPr>
            <a:r>
              <a:rPr dirty="0"/>
              <a:t>IMPLICACIÓN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La información permite priorizar el análisis territorial sobre la mayor parte de los recursos, pero la ubicación debe interpretarse como una señal de referencia y no necesariamente como evidencia de ejecución física.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219C6468-D23B-32F9-49F2-8CA61769B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268" y="1874520"/>
            <a:ext cx="4883336" cy="358902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03 | Ejecución financiera y modificaciones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¿Dónde debemos focalizar el seguimiento?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20.718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contratos analizados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07992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872D"/>
                </a:solidFill>
              </a:defRPr>
            </a:pPr>
            <a:r>
              <a:t>54,6 %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 0 % de ejecución registrada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1583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38744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D8264"/>
                </a:solidFill>
              </a:defRPr>
            </a:pPr>
            <a:r>
              <a:t>750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contratos prioritarios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2542032"/>
            <a:ext cx="6720840" cy="2697480"/>
          </a:xfrm>
          <a:prstGeom prst="roundRect">
            <a:avLst/>
          </a:prstGeom>
          <a:solidFill>
            <a:srgbClr val="FFFFFF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2651759"/>
            <a:ext cx="6172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23052"/>
                </a:solidFill>
              </a:defRPr>
            </a:pPr>
            <a:r>
              <a:rPr dirty="0"/>
              <a:t>VISUALIZACIÓN PRINCIPAL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3703320"/>
            <a:ext cx="5897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647382"/>
                </a:solidFill>
              </a:defRPr>
            </a:pPr>
            <a:r>
              <a:t>INSERTAR PANTALLAZO / GRÁFICO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70832"/>
            <a:ext cx="5897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382"/>
                </a:solidFill>
              </a:defRPr>
            </a:pPr>
            <a:r>
              <a:t>Sugerido: distribución por nivel de ejecución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2542032"/>
            <a:ext cx="3941063" cy="120700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54112" y="2688336"/>
            <a:ext cx="3611879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366AA"/>
                </a:solidFill>
              </a:defRPr>
            </a:pPr>
            <a:r>
              <a:t>REGLA DE PRIORIZACIÓN</a:t>
            </a:r>
          </a:p>
          <a:p>
            <a:pPr>
              <a:spcBef>
                <a:spcPts val="500"/>
              </a:spcBef>
              <a:defRPr sz="1100">
                <a:solidFill>
                  <a:srgbClr val="232B32"/>
                </a:solidFill>
              </a:defRPr>
            </a:pPr>
            <a:r>
              <a:t>P90 de recursos pendientes de ejecución + P90 de días adicionados.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3913632"/>
            <a:ext cx="3941063" cy="13258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112" y="4059936"/>
            <a:ext cx="36118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872D"/>
                </a:solidFill>
              </a:defRPr>
            </a:pPr>
            <a:r>
              <a:t>SEÑAL CLAVE</a:t>
            </a:r>
          </a:p>
          <a:p>
            <a:pPr>
              <a:spcBef>
                <a:spcPts val="500"/>
              </a:spcBef>
              <a:defRPr sz="1100">
                <a:solidFill>
                  <a:srgbClr val="232B32"/>
                </a:solidFill>
              </a:defRPr>
            </a:pPr>
            <a:r>
              <a:t>100 % de los contratos prioritarios presenta extensión contractual.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532120"/>
            <a:ext cx="10607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123052"/>
                </a:solidFill>
              </a:defRPr>
            </a:pPr>
            <a:r>
              <a:t>INSIGHT: pasar de 20.718 contratos a un universo focalizado de 750 casos para seguimiento.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6441D66-A37D-A733-0D1F-6D27C683E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467" y="3011184"/>
            <a:ext cx="3980905" cy="207007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De los datos a la gestión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El análisis transforma información masiva en señales de seguimiento focalizadas.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DATOS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20.718 contratos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85032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ANÁLISIS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Patrones + señales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1032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944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92824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PRIORIZACIÓN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750 contratos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17736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0616" y="2203704"/>
            <a:ext cx="20574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8264"/>
                </a:solidFill>
              </a:defRPr>
            </a:pPr>
            <a:r>
              <a:rPr lang="es-419" dirty="0"/>
              <a:t>FOCOS PARA </a:t>
            </a:r>
            <a:r>
              <a:rPr dirty="0"/>
              <a:t>SEGUIMIENTO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dirty="0" err="1"/>
              <a:t>Información</a:t>
            </a:r>
            <a:r>
              <a:rPr dirty="0"/>
              <a:t> </a:t>
            </a:r>
            <a:r>
              <a:rPr dirty="0" err="1"/>
              <a:t>focalizada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9966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23052"/>
                </a:solidFill>
              </a:defRPr>
            </a:pPr>
            <a:r>
              <a:t>El análisis no reemplaza la revisión contractual: ayuda a decidir dónde concentrarla.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El tablero | De la analítica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Explorar • Analizar • Priorizar • Consultar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7498079" cy="438912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949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647382"/>
                </a:solidFill>
              </a:defRPr>
            </a:pPr>
            <a:r>
              <a:t>INSERTAR CAPTURA DEL TABLERO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41732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41080" y="156362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EXPLORAR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Filtros interactivos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242316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41080" y="256946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ANALIZAR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Indicadores y visualizaciones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342900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1080" y="357530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8264"/>
                </a:solidFill>
              </a:defRPr>
            </a:pPr>
            <a:r>
              <a:t>PRIORIZAR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Contratos para seguimiento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443484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41080" y="458114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CONSULTAR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Detalle contractual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23052"/>
                </a:solidFill>
              </a:defRPr>
            </a:pPr>
            <a:r>
              <a:t>DEMO EN VIVO  |  Vista general → Q1 → Q2 → Q3 → filtros → 750 prioritarios → detalle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Demo del tablero | Máximo 10 minutos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FD395C04-34D9-12B7-0238-8EB4CACB4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089" y="1666717"/>
            <a:ext cx="6757416" cy="1055686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DA645B2B-7D39-25A3-0DFC-D4F4A4476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089" y="2749114"/>
            <a:ext cx="6757416" cy="24405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489</Words>
  <Application>Microsoft Macintosh PowerPoint</Application>
  <PresentationFormat>Panorámica</PresentationFormat>
  <Paragraphs>75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Edwin Hernando Calderon Garcia</cp:lastModifiedBy>
  <cp:revision>3</cp:revision>
  <dcterms:created xsi:type="dcterms:W3CDTF">2013-01-27T09:14:16Z</dcterms:created>
  <dcterms:modified xsi:type="dcterms:W3CDTF">2026-09-15T00:40:28Z</dcterms:modified>
  <cp:category/>
</cp:coreProperties>
</file>