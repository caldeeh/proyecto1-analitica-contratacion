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0136"/>
    <p:restoredTop sz="94659"/>
  </p:normalViewPr>
  <p:slideViewPr>
    <p:cSldViewPr snapToGrid="0" snapToObjects="1">
      <p:cViewPr varScale="1">
        <p:scale>
          <a:sx n="146" d="100"/>
          <a:sy n="146" d="100"/>
        </p:scale>
        <p:origin x="1280" y="1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dwin Calderón García" userId="2d031e888a90ae0e" providerId="LiveId" clId="{F30428A9-2CCB-5619-852C-C0A1C93BAE6D}"/>
    <pc:docChg chg="undo custSel modSld">
      <pc:chgData name="Edwin Calderón García" userId="2d031e888a90ae0e" providerId="LiveId" clId="{F30428A9-2CCB-5619-852C-C0A1C93BAE6D}" dt="2026-09-15T00:40:08.704" v="121" actId="20577"/>
      <pc:docMkLst>
        <pc:docMk/>
      </pc:docMkLst>
      <pc:sldChg chg="addSp delSp modSp mod">
        <pc:chgData name="Edwin Calderón García" userId="2d031e888a90ae0e" providerId="LiveId" clId="{F30428A9-2CCB-5619-852C-C0A1C93BAE6D}" dt="2026-09-15T00:38:26.787" v="81" actId="1440"/>
        <pc:sldMkLst>
          <pc:docMk/>
          <pc:sldMk cId="0" sldId="257"/>
        </pc:sldMkLst>
        <pc:spChg chg="mod">
          <ac:chgData name="Edwin Calderón García" userId="2d031e888a90ae0e" providerId="LiveId" clId="{F30428A9-2CCB-5619-852C-C0A1C93BAE6D}" dt="2026-09-15T00:37:06.581" v="78" actId="123"/>
          <ac:spMkLst>
            <pc:docMk/>
            <pc:sldMk cId="0" sldId="257"/>
            <ac:spMk id="6" creationId="{00000000-0000-0000-0000-000000000000}"/>
          </ac:spMkLst>
        </pc:spChg>
        <pc:spChg chg="mod">
          <ac:chgData name="Edwin Calderón García" userId="2d031e888a90ae0e" providerId="LiveId" clId="{F30428A9-2CCB-5619-852C-C0A1C93BAE6D}" dt="2026-09-15T00:37:20.375" v="80" actId="123"/>
          <ac:spMkLst>
            <pc:docMk/>
            <pc:sldMk cId="0" sldId="257"/>
            <ac:spMk id="8" creationId="{00000000-0000-0000-0000-000000000000}"/>
          </ac:spMkLst>
        </pc:spChg>
        <pc:spChg chg="del">
          <ac:chgData name="Edwin Calderón García" userId="2d031e888a90ae0e" providerId="LiveId" clId="{F30428A9-2CCB-5619-852C-C0A1C93BAE6D}" dt="2026-09-15T00:36:23.881" v="73" actId="478"/>
          <ac:spMkLst>
            <pc:docMk/>
            <pc:sldMk cId="0" sldId="257"/>
            <ac:spMk id="11" creationId="{00000000-0000-0000-0000-000000000000}"/>
          </ac:spMkLst>
        </pc:spChg>
        <pc:picChg chg="add mod">
          <ac:chgData name="Edwin Calderón García" userId="2d031e888a90ae0e" providerId="LiveId" clId="{F30428A9-2CCB-5619-852C-C0A1C93BAE6D}" dt="2026-09-15T00:38:26.787" v="81" actId="1440"/>
          <ac:picMkLst>
            <pc:docMk/>
            <pc:sldMk cId="0" sldId="257"/>
            <ac:picMk id="13" creationId="{038A5DD4-2999-768C-C07A-AE60D3567394}"/>
          </ac:picMkLst>
        </pc:picChg>
      </pc:sldChg>
      <pc:sldChg chg="addSp modSp mod">
        <pc:chgData name="Edwin Calderón García" userId="2d031e888a90ae0e" providerId="LiveId" clId="{F30428A9-2CCB-5619-852C-C0A1C93BAE6D}" dt="2026-09-15T00:33:55.954" v="72" actId="6549"/>
        <pc:sldMkLst>
          <pc:docMk/>
          <pc:sldMk cId="0" sldId="258"/>
        </pc:sldMkLst>
        <pc:spChg chg="mod">
          <ac:chgData name="Edwin Calderón García" userId="2d031e888a90ae0e" providerId="LiveId" clId="{F30428A9-2CCB-5619-852C-C0A1C93BAE6D}" dt="2026-09-15T00:33:18.658" v="18" actId="1076"/>
          <ac:spMkLst>
            <pc:docMk/>
            <pc:sldMk cId="0" sldId="258"/>
            <ac:spMk id="2" creationId="{00000000-0000-0000-0000-000000000000}"/>
          </ac:spMkLst>
        </pc:spChg>
        <pc:spChg chg="mod">
          <ac:chgData name="Edwin Calderón García" userId="2d031e888a90ae0e" providerId="LiveId" clId="{F30428A9-2CCB-5619-852C-C0A1C93BAE6D}" dt="2026-09-15T00:33:55.954" v="72" actId="6549"/>
          <ac:spMkLst>
            <pc:docMk/>
            <pc:sldMk cId="0" sldId="258"/>
            <ac:spMk id="4" creationId="{00000000-0000-0000-0000-000000000000}"/>
          </ac:spMkLst>
        </pc:spChg>
        <pc:spChg chg="mod">
          <ac:chgData name="Edwin Calderón García" userId="2d031e888a90ae0e" providerId="LiveId" clId="{F30428A9-2CCB-5619-852C-C0A1C93BAE6D}" dt="2026-09-14T20:38:30.440" v="3" actId="1076"/>
          <ac:spMkLst>
            <pc:docMk/>
            <pc:sldMk cId="0" sldId="258"/>
            <ac:spMk id="6" creationId="{00000000-0000-0000-0000-000000000000}"/>
          </ac:spMkLst>
        </pc:spChg>
        <pc:spChg chg="mod">
          <ac:chgData name="Edwin Calderón García" userId="2d031e888a90ae0e" providerId="LiveId" clId="{F30428A9-2CCB-5619-852C-C0A1C93BAE6D}" dt="2026-09-15T00:33:28.656" v="21" actId="123"/>
          <ac:spMkLst>
            <pc:docMk/>
            <pc:sldMk cId="0" sldId="258"/>
            <ac:spMk id="8" creationId="{00000000-0000-0000-0000-000000000000}"/>
          </ac:spMkLst>
        </pc:spChg>
        <pc:spChg chg="mod">
          <ac:chgData name="Edwin Calderón García" userId="2d031e888a90ae0e" providerId="LiveId" clId="{F30428A9-2CCB-5619-852C-C0A1C93BAE6D}" dt="2026-09-15T00:33:26.508" v="20" actId="123"/>
          <ac:spMkLst>
            <pc:docMk/>
            <pc:sldMk cId="0" sldId="258"/>
            <ac:spMk id="10" creationId="{00000000-0000-0000-0000-000000000000}"/>
          </ac:spMkLst>
        </pc:spChg>
        <pc:spChg chg="mod">
          <ac:chgData name="Edwin Calderón García" userId="2d031e888a90ae0e" providerId="LiveId" clId="{F30428A9-2CCB-5619-852C-C0A1C93BAE6D}" dt="2026-09-15T00:33:13.858" v="16" actId="14100"/>
          <ac:spMkLst>
            <pc:docMk/>
            <pc:sldMk cId="0" sldId="258"/>
            <ac:spMk id="11" creationId="{00000000-0000-0000-0000-000000000000}"/>
          </ac:spMkLst>
        </pc:spChg>
        <pc:spChg chg="mod">
          <ac:chgData name="Edwin Calderón García" userId="2d031e888a90ae0e" providerId="LiveId" clId="{F30428A9-2CCB-5619-852C-C0A1C93BAE6D}" dt="2026-09-15T00:33:24.056" v="19" actId="123"/>
          <ac:spMkLst>
            <pc:docMk/>
            <pc:sldMk cId="0" sldId="258"/>
            <ac:spMk id="12" creationId="{00000000-0000-0000-0000-000000000000}"/>
          </ac:spMkLst>
        </pc:spChg>
        <pc:picChg chg="add mod">
          <ac:chgData name="Edwin Calderón García" userId="2d031e888a90ae0e" providerId="LiveId" clId="{F30428A9-2CCB-5619-852C-C0A1C93BAE6D}" dt="2026-09-14T20:38:36.488" v="5" actId="1440"/>
          <ac:picMkLst>
            <pc:docMk/>
            <pc:sldMk cId="0" sldId="258"/>
            <ac:picMk id="14" creationId="{219C6468-D23B-32F9-49F2-8CA61769BD6B}"/>
          </ac:picMkLst>
        </pc:picChg>
      </pc:sldChg>
      <pc:sldChg chg="modSp mod">
        <pc:chgData name="Edwin Calderón García" userId="2d031e888a90ae0e" providerId="LiveId" clId="{F30428A9-2CCB-5619-852C-C0A1C93BAE6D}" dt="2026-09-15T00:40:08.704" v="121" actId="20577"/>
        <pc:sldMkLst>
          <pc:docMk/>
          <pc:sldMk cId="0" sldId="260"/>
        </pc:sldMkLst>
        <pc:spChg chg="mod">
          <ac:chgData name="Edwin Calderón García" userId="2d031e888a90ae0e" providerId="LiveId" clId="{F30428A9-2CCB-5619-852C-C0A1C93BAE6D}" dt="2026-09-15T00:40:08.704" v="121" actId="20577"/>
          <ac:spMkLst>
            <pc:docMk/>
            <pc:sldMk cId="0" sldId="260"/>
            <ac:spMk id="15" creationId="{00000000-0000-0000-0000-000000000000}"/>
          </ac:spMkLst>
        </pc:spChg>
      </pc:sldChg>
      <pc:sldChg chg="addSp modSp mod">
        <pc:chgData name="Edwin Calderón García" userId="2d031e888a90ae0e" providerId="LiveId" clId="{F30428A9-2CCB-5619-852C-C0A1C93BAE6D}" dt="2026-09-14T20:40:01.017" v="12" actId="14100"/>
        <pc:sldMkLst>
          <pc:docMk/>
          <pc:sldMk cId="0" sldId="261"/>
        </pc:sldMkLst>
        <pc:picChg chg="add mod">
          <ac:chgData name="Edwin Calderón García" userId="2d031e888a90ae0e" providerId="LiveId" clId="{F30428A9-2CCB-5619-852C-C0A1C93BAE6D}" dt="2026-09-14T20:39:35.815" v="9" actId="1076"/>
          <ac:picMkLst>
            <pc:docMk/>
            <pc:sldMk cId="0" sldId="261"/>
            <ac:picMk id="17" creationId="{FD395C04-34D9-12B7-0238-8EB4CACB4F85}"/>
          </ac:picMkLst>
        </pc:picChg>
        <pc:picChg chg="add mod">
          <ac:chgData name="Edwin Calderón García" userId="2d031e888a90ae0e" providerId="LiveId" clId="{F30428A9-2CCB-5619-852C-C0A1C93BAE6D}" dt="2026-09-14T20:40:01.017" v="12" actId="14100"/>
          <ac:picMkLst>
            <pc:docMk/>
            <pc:sldMk cId="0" sldId="261"/>
            <ac:picMk id="18" creationId="{DA645B2B-7D39-25A3-0DFC-D4F4A4476022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3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69848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123052"/>
                </a:solidFill>
              </a:defRPr>
            </a:pPr>
            <a:r>
              <a:t>Proyecto 1 — Analítica de contratación pública</a:t>
            </a:r>
          </a:p>
          <a:p>
            <a:pPr>
              <a:defRPr sz="1900">
                <a:solidFill>
                  <a:srgbClr val="2366AA"/>
                </a:solidFill>
              </a:defRPr>
            </a:pPr>
            <a:r>
              <a:t>INVIAS | Instituto Nacional de Vías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292608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232B32"/>
                </a:solidFill>
              </a:defRPr>
            </a:pPr>
            <a:r>
              <a:t>20.718 contratos analizados</a:t>
            </a:r>
          </a:p>
          <a:p>
            <a:pPr>
              <a:defRPr sz="1500">
                <a:solidFill>
                  <a:srgbClr val="647382"/>
                </a:solidFill>
              </a:defRPr>
            </a:pPr>
            <a:r>
              <a:t>De los datos a la decisión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160520"/>
            <a:ext cx="3383280" cy="1234440"/>
          </a:xfrm>
          <a:prstGeom prst="roundRect">
            <a:avLst/>
          </a:prstGeom>
          <a:solidFill>
            <a:srgbClr val="F2F5F8"/>
          </a:solidFill>
          <a:ln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4306824"/>
            <a:ext cx="3017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366AA"/>
                </a:solidFill>
              </a:defRPr>
            </a:pPr>
            <a:r>
              <a:t>01</a:t>
            </a:r>
          </a:p>
          <a:p>
            <a:pPr>
              <a:spcBef>
                <a:spcPts val="600"/>
              </a:spcBef>
              <a:defRPr sz="1200">
                <a:solidFill>
                  <a:srgbClr val="232B32"/>
                </a:solidFill>
              </a:defRPr>
            </a:pPr>
            <a:r>
              <a:t>Concentración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4160520"/>
            <a:ext cx="3383280" cy="1234440"/>
          </a:xfrm>
          <a:prstGeom prst="roundRect">
            <a:avLst/>
          </a:prstGeom>
          <a:solidFill>
            <a:srgbClr val="F2F5F8"/>
          </a:solidFill>
          <a:ln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617720" y="4306824"/>
            <a:ext cx="3017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366AA"/>
                </a:solidFill>
              </a:defRPr>
            </a:pPr>
            <a:r>
              <a:t>02</a:t>
            </a:r>
          </a:p>
          <a:p>
            <a:pPr>
              <a:spcBef>
                <a:spcPts val="600"/>
              </a:spcBef>
              <a:defRPr sz="1200">
                <a:solidFill>
                  <a:srgbClr val="232B32"/>
                </a:solidFill>
              </a:defRPr>
            </a:pPr>
            <a:r>
              <a:t>Territorio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60" y="4160520"/>
            <a:ext cx="3383280" cy="1234440"/>
          </a:xfrm>
          <a:prstGeom prst="roundRect">
            <a:avLst/>
          </a:prstGeom>
          <a:solidFill>
            <a:srgbClr val="F2F5F8"/>
          </a:solidFill>
          <a:ln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321040" y="4306824"/>
            <a:ext cx="3017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366AA"/>
                </a:solidFill>
              </a:defRPr>
            </a:pPr>
            <a:r>
              <a:t>03</a:t>
            </a:r>
          </a:p>
          <a:p>
            <a:pPr>
              <a:spcBef>
                <a:spcPts val="600"/>
              </a:spcBef>
              <a:defRPr sz="1200">
                <a:solidFill>
                  <a:srgbClr val="232B32"/>
                </a:solidFill>
              </a:defRPr>
            </a:pPr>
            <a:r>
              <a:t>Ejecución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6492240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7382"/>
                </a:solidFill>
              </a:defRPr>
            </a:pPr>
            <a:r>
              <a:t>Proyecto 1 | INVIAS | Universidad de los Andes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23052"/>
                </a:solidFill>
                <a:latin typeface="Aptos Display"/>
              </a:defRPr>
            </a:pPr>
            <a:r>
              <a:t>01 | Concentración de la contratación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91440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7382"/>
                </a:solidFill>
                <a:latin typeface="Aptos"/>
              </a:defRPr>
            </a:pPr>
            <a:r>
              <a:t>¿Cómo se concentra la contratación de INVIAS entre proveedores, modalidades y tipos de contrato?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08760"/>
            <a:ext cx="3200400" cy="1828800"/>
          </a:xfrm>
          <a:prstGeom prst="roundRect">
            <a:avLst/>
          </a:prstGeom>
          <a:solidFill>
            <a:srgbClr val="F2F5F8"/>
          </a:solidFill>
          <a:ln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59" y="1655063"/>
            <a:ext cx="2834640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366AA"/>
                </a:solidFill>
              </a:defRPr>
            </a:pPr>
            <a:r>
              <a:rPr dirty="0"/>
              <a:t>CIFRA CLAVE</a:t>
            </a:r>
          </a:p>
          <a:p>
            <a:pPr algn="just">
              <a:spcBef>
                <a:spcPts val="600"/>
              </a:spcBef>
              <a:defRPr sz="1200">
                <a:solidFill>
                  <a:srgbClr val="232B32"/>
                </a:solidFill>
              </a:defRPr>
            </a:pPr>
            <a:r>
              <a:rPr lang="es-CO" sz="1200" dirty="0">
                <a:solidFill>
                  <a:srgbClr val="232B32"/>
                </a:solidFill>
              </a:rPr>
              <a:t>Los 10 principales proveedores concentran solo el 20,38 % del valor contratado y el HHI es cercano a 85 puntos, indicando baja concentración global por proveedor.</a:t>
            </a:r>
            <a:endParaRPr dirty="0"/>
          </a:p>
        </p:txBody>
      </p:sp>
      <p:sp>
        <p:nvSpPr>
          <p:cNvPr id="7" name="Rounded Rectangle 6"/>
          <p:cNvSpPr/>
          <p:nvPr/>
        </p:nvSpPr>
        <p:spPr>
          <a:xfrm>
            <a:off x="640080" y="3520440"/>
            <a:ext cx="3200400" cy="1828800"/>
          </a:xfrm>
          <a:prstGeom prst="roundRect">
            <a:avLst/>
          </a:prstGeom>
          <a:solidFill>
            <a:srgbClr val="F2F5F8"/>
          </a:solidFill>
          <a:ln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2959" y="3666744"/>
            <a:ext cx="2834640" cy="14619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366AA"/>
                </a:solidFill>
              </a:defRPr>
            </a:pPr>
            <a:r>
              <a:rPr dirty="0"/>
              <a:t>HALLAZGO</a:t>
            </a:r>
          </a:p>
          <a:p>
            <a:pPr algn="just">
              <a:spcBef>
                <a:spcPts val="600"/>
              </a:spcBef>
              <a:defRPr sz="1200">
                <a:solidFill>
                  <a:srgbClr val="232B32"/>
                </a:solidFill>
              </a:defRPr>
            </a:pPr>
            <a:r>
              <a:rPr lang="es-CO" sz="1200" dirty="0">
                <a:solidFill>
                  <a:srgbClr val="232B32"/>
                </a:solidFill>
              </a:rPr>
              <a:t>La concentración cambia significativamente según el tipo y modalidad contractual: los contratos de Obra representan el 15,4 % de los contratos, pero concentran el 66,3 % del valor contratado.</a:t>
            </a:r>
            <a:endParaRPr dirty="0"/>
          </a:p>
        </p:txBody>
      </p:sp>
      <p:sp>
        <p:nvSpPr>
          <p:cNvPr id="9" name="Rounded Rectangle 8"/>
          <p:cNvSpPr/>
          <p:nvPr/>
        </p:nvSpPr>
        <p:spPr>
          <a:xfrm>
            <a:off x="4160520" y="1508760"/>
            <a:ext cx="7315200" cy="3840480"/>
          </a:xfrm>
          <a:prstGeom prst="roundRect">
            <a:avLst/>
          </a:prstGeom>
          <a:solidFill>
            <a:srgbClr val="F2F5F8"/>
          </a:solidFill>
          <a:ln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434840" y="1783080"/>
            <a:ext cx="6766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23052"/>
                </a:solidFill>
              </a:defRPr>
            </a:pPr>
            <a:r>
              <a:t>VISUALIZACIÓN PRINCIPAL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6492240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7382"/>
                </a:solidFill>
              </a:defRPr>
            </a:pPr>
            <a:r>
              <a:t>Proyecto 1 | INVIAS | Universidad de los Andes</a:t>
            </a:r>
          </a:p>
        </p:txBody>
      </p:sp>
      <p:pic>
        <p:nvPicPr>
          <p:cNvPr id="13" name="Imagen 12">
            <a:extLst>
              <a:ext uri="{FF2B5EF4-FFF2-40B4-BE49-F238E27FC236}">
                <a16:creationId xmlns:a16="http://schemas.microsoft.com/office/drawing/2014/main" id="{038A5DD4-2999-768C-C07A-AE60D35673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5616" y="2129246"/>
            <a:ext cx="6035817" cy="2952629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23052"/>
                </a:solidFill>
                <a:latin typeface="Aptos Display"/>
              </a:defRPr>
            </a:pPr>
            <a:r>
              <a:t>02 | Distribución y trazabilidad territorial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914400"/>
            <a:ext cx="5731505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7382"/>
                </a:solidFill>
                <a:latin typeface="Aptos"/>
              </a:defRPr>
            </a:pPr>
            <a:r>
              <a:rPr dirty="0"/>
              <a:t>¿</a:t>
            </a:r>
            <a:r>
              <a:rPr dirty="0" err="1"/>
              <a:t>Dónde</a:t>
            </a:r>
            <a:r>
              <a:rPr dirty="0"/>
              <a:t> se </a:t>
            </a:r>
            <a:r>
              <a:rPr dirty="0" err="1"/>
              <a:t>concentran</a:t>
            </a:r>
            <a:r>
              <a:rPr dirty="0"/>
              <a:t> los </a:t>
            </a:r>
            <a:r>
              <a:rPr dirty="0" err="1"/>
              <a:t>recursos</a:t>
            </a:r>
            <a:r>
              <a:rPr dirty="0"/>
              <a:t> y </a:t>
            </a:r>
            <a:r>
              <a:rPr lang="es-419" dirty="0"/>
              <a:t>qué tan trazable es su ejecución </a:t>
            </a:r>
            <a:r>
              <a:rPr dirty="0"/>
              <a:t>territorial?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6583680" cy="4251960"/>
          </a:xfrm>
          <a:prstGeom prst="roundRect">
            <a:avLst/>
          </a:prstGeom>
          <a:solidFill>
            <a:srgbClr val="F2F5F8"/>
          </a:solidFill>
          <a:ln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577340"/>
            <a:ext cx="6035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23052"/>
                </a:solidFill>
              </a:defRPr>
            </a:pPr>
            <a:r>
              <a:rPr dirty="0"/>
              <a:t>VISUALIZACIÓN TERRITORIAL PRINCIPAL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43800" y="1417320"/>
            <a:ext cx="3931920" cy="1508760"/>
          </a:xfrm>
          <a:prstGeom prst="roundRect">
            <a:avLst/>
          </a:prstGeom>
          <a:solidFill>
            <a:srgbClr val="F2F5F8"/>
          </a:solidFill>
          <a:ln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26679" y="1563624"/>
            <a:ext cx="3566160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366AA"/>
                </a:solidFill>
              </a:defRPr>
            </a:pPr>
            <a:r>
              <a:rPr dirty="0"/>
              <a:t>HALLAZGO 01</a:t>
            </a:r>
          </a:p>
          <a:p>
            <a:pPr algn="just">
              <a:spcBef>
                <a:spcPts val="600"/>
              </a:spcBef>
              <a:defRPr sz="1200">
                <a:solidFill>
                  <a:srgbClr val="232B32"/>
                </a:solidFill>
              </a:defRPr>
            </a:pPr>
            <a:r>
              <a:rPr lang="es-CO" sz="1200" dirty="0">
                <a:solidFill>
                  <a:srgbClr val="232B32"/>
                </a:solidFill>
              </a:rPr>
              <a:t>El 77,9% del valor contratado ($39,1 billones) puede ubicarse territorialmente en 33 departamentos, permitiendo identificar dónde se concentra la contratación de INVIAS.</a:t>
            </a:r>
            <a:endParaRPr dirty="0"/>
          </a:p>
        </p:txBody>
      </p:sp>
      <p:sp>
        <p:nvSpPr>
          <p:cNvPr id="9" name="Rounded Rectangle 8"/>
          <p:cNvSpPr/>
          <p:nvPr/>
        </p:nvSpPr>
        <p:spPr>
          <a:xfrm>
            <a:off x="7543800" y="3108960"/>
            <a:ext cx="3931920" cy="1508760"/>
          </a:xfrm>
          <a:prstGeom prst="roundRect">
            <a:avLst/>
          </a:prstGeom>
          <a:solidFill>
            <a:srgbClr val="F2F5F8"/>
          </a:solidFill>
          <a:ln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26679" y="3255264"/>
            <a:ext cx="3566160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366AA"/>
                </a:solidFill>
              </a:defRPr>
            </a:pPr>
            <a:r>
              <a:rPr dirty="0"/>
              <a:t>HALLAZGO 02</a:t>
            </a:r>
          </a:p>
          <a:p>
            <a:pPr algn="just">
              <a:spcBef>
                <a:spcPts val="600"/>
              </a:spcBef>
              <a:defRPr sz="1200">
                <a:solidFill>
                  <a:srgbClr val="232B32"/>
                </a:solidFill>
              </a:defRPr>
            </a:pPr>
            <a:r>
              <a:rPr lang="es-CO" sz="1200" dirty="0">
                <a:solidFill>
                  <a:srgbClr val="232B32"/>
                </a:solidFill>
              </a:rPr>
              <a:t>La trazabilidad es desigual: 40,9% de los contratos se asocia a un único departamento, 2,3% involucra varios departamentos y 56,7% no permite una asignación territorial confiable.</a:t>
            </a:r>
            <a:endParaRPr dirty="0"/>
          </a:p>
        </p:txBody>
      </p:sp>
      <p:sp>
        <p:nvSpPr>
          <p:cNvPr id="11" name="Rounded Rectangle 10"/>
          <p:cNvSpPr/>
          <p:nvPr/>
        </p:nvSpPr>
        <p:spPr>
          <a:xfrm>
            <a:off x="7543800" y="4800599"/>
            <a:ext cx="3931920" cy="1238911"/>
          </a:xfrm>
          <a:prstGeom prst="roundRect">
            <a:avLst/>
          </a:prstGeom>
          <a:solidFill>
            <a:srgbClr val="F2F5F8"/>
          </a:solidFill>
          <a:ln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26679" y="4946904"/>
            <a:ext cx="3566160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DC872D"/>
                </a:solidFill>
              </a:defRPr>
            </a:pPr>
            <a:r>
              <a:rPr dirty="0"/>
              <a:t>IMPLICACIÓN</a:t>
            </a:r>
          </a:p>
          <a:p>
            <a:pPr algn="just">
              <a:spcBef>
                <a:spcPts val="600"/>
              </a:spcBef>
              <a:defRPr sz="1200">
                <a:solidFill>
                  <a:srgbClr val="232B32"/>
                </a:solidFill>
              </a:defRPr>
            </a:pPr>
            <a:r>
              <a:rPr lang="es-CO" sz="1200" dirty="0">
                <a:solidFill>
                  <a:srgbClr val="232B32"/>
                </a:solidFill>
              </a:rPr>
              <a:t>La información permite priorizar el análisis territorial sobre la mayor parte de los recursos, pero la ubicación debe interpretarse como una señal de referencia y no necesariamente como evidencia de ejecución física.</a:t>
            </a:r>
            <a:endParaRPr dirty="0"/>
          </a:p>
        </p:txBody>
      </p:sp>
      <p:sp>
        <p:nvSpPr>
          <p:cNvPr id="13" name="TextBox 12"/>
          <p:cNvSpPr txBox="1"/>
          <p:nvPr/>
        </p:nvSpPr>
        <p:spPr>
          <a:xfrm>
            <a:off x="594360" y="6492240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7382"/>
                </a:solidFill>
              </a:defRPr>
            </a:pPr>
            <a:r>
              <a:t>Proyecto 1 | INVIAS | Universidad de los Andes</a:t>
            </a:r>
          </a:p>
        </p:txBody>
      </p:sp>
      <p:pic>
        <p:nvPicPr>
          <p:cNvPr id="14" name="Imagen 13">
            <a:extLst>
              <a:ext uri="{FF2B5EF4-FFF2-40B4-BE49-F238E27FC236}">
                <a16:creationId xmlns:a16="http://schemas.microsoft.com/office/drawing/2014/main" id="{219C6468-D23B-32F9-49F2-8CA61769BD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2268" y="1874520"/>
            <a:ext cx="4883336" cy="3589020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Box 15"/>
          <p:cNvSpPr txBox="1"/>
          <p:nvPr/>
        </p:nvSpPr>
        <p:spPr>
          <a:xfrm>
            <a:off x="594360" y="6492240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7382"/>
                </a:solidFill>
              </a:defRPr>
            </a:pPr>
            <a:r>
              <a:t>Proyecto 1 | INVIAS | Universidad de los Andes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32004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23052"/>
                </a:solidFill>
                <a:latin typeface="Aptos Display"/>
              </a:defRPr>
            </a:pPr>
            <a:r>
              <a:t>03 | Ejecución financiera y modificaciones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" y="91440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7382"/>
                </a:solidFill>
                <a:latin typeface="Aptos"/>
              </a:defRPr>
            </a:pPr>
            <a:r>
              <a:t>¿Dónde debemos focalizar el seguimiento?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1298448"/>
            <a:ext cx="3429000" cy="1024128"/>
          </a:xfrm>
          <a:prstGeom prst="roundRect">
            <a:avLst/>
          </a:prstGeom>
          <a:solidFill>
            <a:srgbClr val="F2F5F8"/>
          </a:solidFill>
          <a:ln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77240" y="1417319"/>
            <a:ext cx="3154680" cy="7955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2366AA"/>
                </a:solidFill>
              </a:defRPr>
            </a:pPr>
            <a:r>
              <a:t>20.718</a:t>
            </a:r>
          </a:p>
          <a:p>
            <a:pPr algn="ctr">
              <a:defRPr sz="1000">
                <a:solidFill>
                  <a:srgbClr val="232B32"/>
                </a:solidFill>
              </a:defRPr>
            </a:pPr>
            <a:r>
              <a:t>contratos analizados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70832" y="1298448"/>
            <a:ext cx="3429000" cy="1024128"/>
          </a:xfrm>
          <a:prstGeom prst="roundRect">
            <a:avLst/>
          </a:prstGeom>
          <a:solidFill>
            <a:srgbClr val="F2F5F8"/>
          </a:solidFill>
          <a:ln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507992" y="1417319"/>
            <a:ext cx="3154680" cy="7955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DC872D"/>
                </a:solidFill>
              </a:defRPr>
            </a:pPr>
            <a:r>
              <a:t>54,6 %</a:t>
            </a:r>
          </a:p>
          <a:p>
            <a:pPr algn="ctr">
              <a:defRPr sz="1000">
                <a:solidFill>
                  <a:srgbClr val="232B32"/>
                </a:solidFill>
              </a:defRPr>
            </a:pPr>
            <a:r>
              <a:t>con 0 % de ejecución registrada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01583" y="1298448"/>
            <a:ext cx="3429000" cy="1024128"/>
          </a:xfrm>
          <a:prstGeom prst="roundRect">
            <a:avLst/>
          </a:prstGeom>
          <a:solidFill>
            <a:srgbClr val="F2F5F8"/>
          </a:solidFill>
          <a:ln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238744" y="1417319"/>
            <a:ext cx="3154680" cy="7955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2D8264"/>
                </a:solidFill>
              </a:defRPr>
            </a:pPr>
            <a:r>
              <a:t>750</a:t>
            </a:r>
          </a:p>
          <a:p>
            <a:pPr algn="ctr">
              <a:defRPr sz="1000">
                <a:solidFill>
                  <a:srgbClr val="232B32"/>
                </a:solidFill>
              </a:defRPr>
            </a:pPr>
            <a:r>
              <a:t>contratos prioritarios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2542032"/>
            <a:ext cx="6720840" cy="2697480"/>
          </a:xfrm>
          <a:prstGeom prst="roundRect">
            <a:avLst/>
          </a:prstGeom>
          <a:solidFill>
            <a:srgbClr val="FFFFFF"/>
          </a:solidFill>
          <a:ln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14400" y="2651759"/>
            <a:ext cx="6172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23052"/>
                </a:solidFill>
              </a:defRPr>
            </a:pPr>
            <a:r>
              <a:rPr dirty="0"/>
              <a:t>VISUALIZACIÓN PRINCIPAL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" y="3703320"/>
            <a:ext cx="58978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647382"/>
                </a:solidFill>
              </a:defRPr>
            </a:pPr>
            <a:r>
              <a:t>INSERTAR PANTALLAZO / GRÁFICO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" y="4370832"/>
            <a:ext cx="5897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382"/>
                </a:solidFill>
              </a:defRPr>
            </a:pPr>
            <a:r>
              <a:t>Sugerido: distribución por nivel de ejecución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589520" y="2542032"/>
            <a:ext cx="3941063" cy="1207008"/>
          </a:xfrm>
          <a:prstGeom prst="roundRect">
            <a:avLst/>
          </a:prstGeom>
          <a:solidFill>
            <a:srgbClr val="F2F5F8"/>
          </a:solidFill>
          <a:ln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754112" y="2688336"/>
            <a:ext cx="3611879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366AA"/>
                </a:solidFill>
              </a:defRPr>
            </a:pPr>
            <a:r>
              <a:t>REGLA DE PRIORIZACIÓN</a:t>
            </a:r>
          </a:p>
          <a:p>
            <a:pPr>
              <a:spcBef>
                <a:spcPts val="500"/>
              </a:spcBef>
              <a:defRPr sz="1100">
                <a:solidFill>
                  <a:srgbClr val="232B32"/>
                </a:solidFill>
              </a:defRPr>
            </a:pPr>
            <a:r>
              <a:t>P90 de recursos pendientes de ejecución + P90 de días adicionados.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589520" y="3913632"/>
            <a:ext cx="3941063" cy="1325880"/>
          </a:xfrm>
          <a:prstGeom prst="roundRect">
            <a:avLst/>
          </a:prstGeom>
          <a:solidFill>
            <a:srgbClr val="F2F5F8"/>
          </a:solidFill>
          <a:ln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754112" y="4059936"/>
            <a:ext cx="3611879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C872D"/>
                </a:solidFill>
              </a:defRPr>
            </a:pPr>
            <a:r>
              <a:t>SEÑAL CLAVE</a:t>
            </a:r>
          </a:p>
          <a:p>
            <a:pPr>
              <a:spcBef>
                <a:spcPts val="500"/>
              </a:spcBef>
              <a:defRPr sz="1100">
                <a:solidFill>
                  <a:srgbClr val="232B32"/>
                </a:solidFill>
              </a:defRPr>
            </a:pPr>
            <a:r>
              <a:t>100 % de los contratos prioritarios presenta extensión contractual.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5532120"/>
            <a:ext cx="1060704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700" b="1">
                <a:solidFill>
                  <a:srgbClr val="123052"/>
                </a:solidFill>
              </a:defRPr>
            </a:pPr>
            <a:r>
              <a:t>INSIGHT: pasar de 20.718 contratos a un universo focalizado de 750 casos para seguimiento.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" y="6492240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7382"/>
                </a:solidFill>
              </a:defRPr>
            </a:pPr>
            <a:r>
              <a:t>Proyecto 1 | INVIAS | Universidad de los Andes</a:t>
            </a: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E6441D66-A37D-A733-0D1F-6D27C683E3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1467" y="3011184"/>
            <a:ext cx="3980905" cy="2070071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23052"/>
                </a:solidFill>
                <a:latin typeface="Aptos Display"/>
              </a:defRPr>
            </a:pPr>
            <a:r>
              <a:t>De los datos a la gestión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91440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7382"/>
                </a:solidFill>
                <a:latin typeface="Aptos"/>
              </a:defRPr>
            </a:pPr>
            <a:r>
              <a:t>El análisis transforma información masiva en señales de seguimiento focalizadas.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2057400"/>
            <a:ext cx="2423160" cy="1554480"/>
          </a:xfrm>
          <a:prstGeom prst="roundRect">
            <a:avLst/>
          </a:prstGeom>
          <a:solidFill>
            <a:srgbClr val="F2F5F8"/>
          </a:solidFill>
          <a:ln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2203704"/>
            <a:ext cx="2057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366AA"/>
                </a:solidFill>
              </a:defRPr>
            </a:pPr>
            <a:r>
              <a:t>DATOS</a:t>
            </a:r>
          </a:p>
          <a:p>
            <a:pPr>
              <a:spcBef>
                <a:spcPts val="600"/>
              </a:spcBef>
              <a:defRPr sz="1200">
                <a:solidFill>
                  <a:srgbClr val="232B32"/>
                </a:solidFill>
              </a:defRPr>
            </a:pPr>
            <a:r>
              <a:t>20.718 contratos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2514600"/>
            <a:ext cx="411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2366AA"/>
                </a:solidFill>
              </a:defRPr>
            </a:pPr>
            <a: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02152" y="2057400"/>
            <a:ext cx="2423160" cy="1554480"/>
          </a:xfrm>
          <a:prstGeom prst="roundRect">
            <a:avLst/>
          </a:prstGeom>
          <a:solidFill>
            <a:srgbClr val="F2F5F8"/>
          </a:solidFill>
          <a:ln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685032" y="2203704"/>
            <a:ext cx="2057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366AA"/>
                </a:solidFill>
              </a:defRPr>
            </a:pPr>
            <a:r>
              <a:t>ANÁLISIS</a:t>
            </a:r>
          </a:p>
          <a:p>
            <a:pPr>
              <a:spcBef>
                <a:spcPts val="600"/>
              </a:spcBef>
              <a:defRPr sz="1200">
                <a:solidFill>
                  <a:srgbClr val="232B32"/>
                </a:solidFill>
              </a:defRPr>
            </a:pPr>
            <a:r>
              <a:t>Patrones + señales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71032" y="2514600"/>
            <a:ext cx="411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2366AA"/>
                </a:solidFill>
              </a:defRPr>
            </a:pPr>
            <a: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9944" y="2057400"/>
            <a:ext cx="2423160" cy="1554480"/>
          </a:xfrm>
          <a:prstGeom prst="roundRect">
            <a:avLst/>
          </a:prstGeom>
          <a:solidFill>
            <a:srgbClr val="F2F5F8"/>
          </a:solidFill>
          <a:ln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92824" y="2203704"/>
            <a:ext cx="2057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366AA"/>
                </a:solidFill>
              </a:defRPr>
            </a:pPr>
            <a:r>
              <a:t>PRIORIZACIÓN</a:t>
            </a:r>
          </a:p>
          <a:p>
            <a:pPr>
              <a:spcBef>
                <a:spcPts val="600"/>
              </a:spcBef>
              <a:defRPr sz="1200">
                <a:solidFill>
                  <a:srgbClr val="232B32"/>
                </a:solidFill>
              </a:defRPr>
            </a:pPr>
            <a:r>
              <a:t>750 contratos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78824" y="2514600"/>
            <a:ext cx="411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2366AA"/>
                </a:solidFill>
              </a:defRPr>
            </a:pPr>
            <a: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317736" y="2057400"/>
            <a:ext cx="2423160" cy="1554480"/>
          </a:xfrm>
          <a:prstGeom prst="roundRect">
            <a:avLst/>
          </a:prstGeom>
          <a:solidFill>
            <a:srgbClr val="F2F5F8"/>
          </a:solidFill>
          <a:ln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500616" y="2203704"/>
            <a:ext cx="2057400" cy="538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D8264"/>
                </a:solidFill>
              </a:defRPr>
            </a:pPr>
            <a:r>
              <a:rPr lang="es-419" dirty="0"/>
              <a:t>FOCOS PARA </a:t>
            </a:r>
            <a:r>
              <a:rPr dirty="0"/>
              <a:t>SEGUIMIENTO</a:t>
            </a:r>
          </a:p>
          <a:p>
            <a:pPr>
              <a:spcBef>
                <a:spcPts val="600"/>
              </a:spcBef>
              <a:defRPr sz="1200">
                <a:solidFill>
                  <a:srgbClr val="232B32"/>
                </a:solidFill>
              </a:defRPr>
            </a:pPr>
            <a:r>
              <a:rPr dirty="0" err="1"/>
              <a:t>Información</a:t>
            </a:r>
            <a:r>
              <a:rPr dirty="0"/>
              <a:t> </a:t>
            </a:r>
            <a:r>
              <a:rPr dirty="0" err="1"/>
              <a:t>focalizada</a:t>
            </a:r>
            <a:endParaRPr dirty="0"/>
          </a:p>
        </p:txBody>
      </p:sp>
      <p:sp>
        <p:nvSpPr>
          <p:cNvPr id="16" name="TextBox 15"/>
          <p:cNvSpPr txBox="1"/>
          <p:nvPr/>
        </p:nvSpPr>
        <p:spPr>
          <a:xfrm>
            <a:off x="1097280" y="4343400"/>
            <a:ext cx="99669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123052"/>
                </a:solidFill>
              </a:defRPr>
            </a:pPr>
            <a:r>
              <a:t>El análisis no reemplaza la revisión contractual: ayuda a decidir dónde concentrarla.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6492240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7382"/>
                </a:solidFill>
              </a:defRPr>
            </a:pPr>
            <a:r>
              <a:t>Proyecto 1 | INVIAS | Universidad de los Andes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23052"/>
                </a:solidFill>
                <a:latin typeface="Aptos Display"/>
              </a:defRPr>
            </a:pPr>
            <a:r>
              <a:t>El tablero | De la analítica a la operación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91440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7382"/>
                </a:solidFill>
                <a:latin typeface="Aptos"/>
              </a:defRPr>
            </a:pPr>
            <a:r>
              <a:t>Explorar • Analizar • Priorizar • Consultar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7498079" cy="4389120"/>
          </a:xfrm>
          <a:prstGeom prst="roundRect">
            <a:avLst/>
          </a:prstGeom>
          <a:solidFill>
            <a:srgbClr val="F2F5F8"/>
          </a:solidFill>
          <a:ln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2926080"/>
            <a:ext cx="6949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647382"/>
                </a:solidFill>
              </a:defRPr>
            </a:pPr>
            <a:r>
              <a:t>INSERTAR CAPTURA DEL TABLERO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58200" y="1417320"/>
            <a:ext cx="2971800" cy="777240"/>
          </a:xfrm>
          <a:prstGeom prst="roundRect">
            <a:avLst/>
          </a:prstGeom>
          <a:solidFill>
            <a:srgbClr val="F2F5F8"/>
          </a:solidFill>
          <a:ln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41080" y="1563624"/>
            <a:ext cx="2606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366AA"/>
                </a:solidFill>
              </a:defRPr>
            </a:pPr>
            <a:r>
              <a:t>EXPLORAR</a:t>
            </a:r>
          </a:p>
          <a:p>
            <a:pPr>
              <a:spcBef>
                <a:spcPts val="600"/>
              </a:spcBef>
              <a:defRPr sz="1200">
                <a:solidFill>
                  <a:srgbClr val="232B32"/>
                </a:solidFill>
              </a:defRPr>
            </a:pPr>
            <a:r>
              <a:t>Filtros interactivos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58200" y="2423160"/>
            <a:ext cx="2971800" cy="777240"/>
          </a:xfrm>
          <a:prstGeom prst="roundRect">
            <a:avLst/>
          </a:prstGeom>
          <a:solidFill>
            <a:srgbClr val="F2F5F8"/>
          </a:solidFill>
          <a:ln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41080" y="2569464"/>
            <a:ext cx="2606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366AA"/>
                </a:solidFill>
              </a:defRPr>
            </a:pPr>
            <a:r>
              <a:t>ANALIZAR</a:t>
            </a:r>
          </a:p>
          <a:p>
            <a:pPr>
              <a:spcBef>
                <a:spcPts val="600"/>
              </a:spcBef>
              <a:defRPr sz="1200">
                <a:solidFill>
                  <a:srgbClr val="232B32"/>
                </a:solidFill>
              </a:defRPr>
            </a:pPr>
            <a:r>
              <a:t>Indicadores y visualizaciones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58200" y="3429000"/>
            <a:ext cx="2971800" cy="777240"/>
          </a:xfrm>
          <a:prstGeom prst="roundRect">
            <a:avLst/>
          </a:prstGeom>
          <a:solidFill>
            <a:srgbClr val="F2F5F8"/>
          </a:solidFill>
          <a:ln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641080" y="3575304"/>
            <a:ext cx="2606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D8264"/>
                </a:solidFill>
              </a:defRPr>
            </a:pPr>
            <a:r>
              <a:t>PRIORIZAR</a:t>
            </a:r>
          </a:p>
          <a:p>
            <a:pPr>
              <a:spcBef>
                <a:spcPts val="600"/>
              </a:spcBef>
              <a:defRPr sz="1200">
                <a:solidFill>
                  <a:srgbClr val="232B32"/>
                </a:solidFill>
              </a:defRPr>
            </a:pPr>
            <a:r>
              <a:t>Contratos para seguimiento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58200" y="4434840"/>
            <a:ext cx="2971800" cy="777240"/>
          </a:xfrm>
          <a:prstGeom prst="roundRect">
            <a:avLst/>
          </a:prstGeom>
          <a:solidFill>
            <a:srgbClr val="F2F5F8"/>
          </a:solidFill>
          <a:ln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641080" y="4581144"/>
            <a:ext cx="2606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366AA"/>
                </a:solidFill>
              </a:defRPr>
            </a:pPr>
            <a:r>
              <a:t>CONSULTAR</a:t>
            </a:r>
          </a:p>
          <a:p>
            <a:pPr>
              <a:spcBef>
                <a:spcPts val="600"/>
              </a:spcBef>
              <a:defRPr sz="1200">
                <a:solidFill>
                  <a:srgbClr val="232B32"/>
                </a:solidFill>
              </a:defRPr>
            </a:pPr>
            <a:r>
              <a:t>Detalle contractual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989320"/>
            <a:ext cx="10607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123052"/>
                </a:solidFill>
              </a:defRPr>
            </a:pPr>
            <a:r>
              <a:t>DEMO EN VIVO  |  Vista general → Q1 → Q2 → Q3 → filtros → 750 prioritarios → detalle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6492240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7382"/>
                </a:solidFill>
              </a:defRPr>
            </a:pPr>
            <a:r>
              <a:t>Proyecto 1 | INVIAS | Demo del tablero | Máximo 10 minutos</a:t>
            </a:r>
          </a:p>
        </p:txBody>
      </p:sp>
      <p:pic>
        <p:nvPicPr>
          <p:cNvPr id="17" name="Imagen 16">
            <a:extLst>
              <a:ext uri="{FF2B5EF4-FFF2-40B4-BE49-F238E27FC236}">
                <a16:creationId xmlns:a16="http://schemas.microsoft.com/office/drawing/2014/main" id="{FD395C04-34D9-12B7-0238-8EB4CACB4F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9089" y="1666717"/>
            <a:ext cx="6757416" cy="1055686"/>
          </a:xfrm>
          <a:prstGeom prst="rect">
            <a:avLst/>
          </a:prstGeom>
        </p:spPr>
      </p:pic>
      <p:pic>
        <p:nvPicPr>
          <p:cNvPr id="18" name="Imagen 17">
            <a:extLst>
              <a:ext uri="{FF2B5EF4-FFF2-40B4-BE49-F238E27FC236}">
                <a16:creationId xmlns:a16="http://schemas.microsoft.com/office/drawing/2014/main" id="{DA645B2B-7D39-25A3-0DFC-D4F4A44760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9089" y="2749114"/>
            <a:ext cx="6757416" cy="244056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</TotalTime>
  <Words>489</Words>
  <Application>Microsoft Macintosh PowerPoint</Application>
  <PresentationFormat>Panorámica</PresentationFormat>
  <Paragraphs>75</Paragraphs>
  <Slides>6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Edwin Hernando Calderon Garcia</cp:lastModifiedBy>
  <cp:revision>3</cp:revision>
  <dcterms:created xsi:type="dcterms:W3CDTF">2013-01-27T09:14:16Z</dcterms:created>
  <dcterms:modified xsi:type="dcterms:W3CDTF">2026-09-15T00:40:28Z</dcterms:modified>
  <cp:category/>
</cp:coreProperties>
</file>