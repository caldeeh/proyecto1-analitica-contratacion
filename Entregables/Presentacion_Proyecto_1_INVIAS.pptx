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7"/>
    <p:restoredTop sz="94636"/>
  </p:normalViewPr>
  <p:slideViewPr>
    <p:cSldViewPr snapToGrid="0" snapToObjects="1">
      <p:cViewPr varScale="1">
        <p:scale>
          <a:sx n="139" d="100"/>
          <a:sy n="139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in Calderón García" userId="2d031e888a90ae0e" providerId="LiveId" clId="{F30428A9-2CCB-5619-852C-C0A1C93BAE6D}"/>
    <pc:docChg chg="modSld">
      <pc:chgData name="Edwin Calderón García" userId="2d031e888a90ae0e" providerId="LiveId" clId="{F30428A9-2CCB-5619-852C-C0A1C93BAE6D}" dt="2026-09-14T20:40:01.017" v="12" actId="14100"/>
      <pc:docMkLst>
        <pc:docMk/>
      </pc:docMkLst>
      <pc:sldChg chg="addSp modSp mod">
        <pc:chgData name="Edwin Calderón García" userId="2d031e888a90ae0e" providerId="LiveId" clId="{F30428A9-2CCB-5619-852C-C0A1C93BAE6D}" dt="2026-09-14T20:38:36.488" v="5" actId="1440"/>
        <pc:sldMkLst>
          <pc:docMk/>
          <pc:sldMk cId="0" sldId="258"/>
        </pc:sldMkLst>
        <pc:spChg chg="mod">
          <ac:chgData name="Edwin Calderón García" userId="2d031e888a90ae0e" providerId="LiveId" clId="{F30428A9-2CCB-5619-852C-C0A1C93BAE6D}" dt="2026-09-14T20:38:30.440" v="3" actId="1076"/>
          <ac:spMkLst>
            <pc:docMk/>
            <pc:sldMk cId="0" sldId="258"/>
            <ac:spMk id="6" creationId="{00000000-0000-0000-0000-000000000000}"/>
          </ac:spMkLst>
        </pc:spChg>
        <pc:picChg chg="add mod">
          <ac:chgData name="Edwin Calderón García" userId="2d031e888a90ae0e" providerId="LiveId" clId="{F30428A9-2CCB-5619-852C-C0A1C93BAE6D}" dt="2026-09-14T20:38:36.488" v="5" actId="1440"/>
          <ac:picMkLst>
            <pc:docMk/>
            <pc:sldMk cId="0" sldId="258"/>
            <ac:picMk id="14" creationId="{219C6468-D23B-32F9-49F2-8CA61769BD6B}"/>
          </ac:picMkLst>
        </pc:picChg>
      </pc:sldChg>
      <pc:sldChg chg="addSp modSp mod">
        <pc:chgData name="Edwin Calderón García" userId="2d031e888a90ae0e" providerId="LiveId" clId="{F30428A9-2CCB-5619-852C-C0A1C93BAE6D}" dt="2026-09-14T20:40:01.017" v="12" actId="14100"/>
        <pc:sldMkLst>
          <pc:docMk/>
          <pc:sldMk cId="0" sldId="261"/>
        </pc:sldMkLst>
        <pc:picChg chg="add mod">
          <ac:chgData name="Edwin Calderón García" userId="2d031e888a90ae0e" providerId="LiveId" clId="{F30428A9-2CCB-5619-852C-C0A1C93BAE6D}" dt="2026-09-14T20:39:35.815" v="9" actId="1076"/>
          <ac:picMkLst>
            <pc:docMk/>
            <pc:sldMk cId="0" sldId="261"/>
            <ac:picMk id="17" creationId="{FD395C04-34D9-12B7-0238-8EB4CACB4F85}"/>
          </ac:picMkLst>
        </pc:picChg>
        <pc:picChg chg="add mod">
          <ac:chgData name="Edwin Calderón García" userId="2d031e888a90ae0e" providerId="LiveId" clId="{F30428A9-2CCB-5619-852C-C0A1C93BAE6D}" dt="2026-09-14T20:40:01.017" v="12" actId="14100"/>
          <ac:picMkLst>
            <pc:docMk/>
            <pc:sldMk cId="0" sldId="261"/>
            <ac:picMk id="18" creationId="{DA645B2B-7D39-25A3-0DFC-D4F4A4476022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3052"/>
                </a:solidFill>
              </a:defRPr>
            </a:pPr>
            <a:r>
              <a:t>Proyecto 1 — Analítica de contratación pública</a:t>
            </a:r>
          </a:p>
          <a:p>
            <a:pPr>
              <a:defRPr sz="1900">
                <a:solidFill>
                  <a:srgbClr val="2366AA"/>
                </a:solidFill>
              </a:defRPr>
            </a:pPr>
            <a:r>
              <a:t>INVIAS | Instituto Nacional de Vías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2B32"/>
                </a:solidFill>
              </a:defRPr>
            </a:pPr>
            <a:r>
              <a:t>20.718 contratos analizados</a:t>
            </a:r>
          </a:p>
          <a:p>
            <a:pPr>
              <a:defRPr sz="1500">
                <a:solidFill>
                  <a:srgbClr val="647382"/>
                </a:solidFill>
              </a:defRPr>
            </a:pPr>
            <a:r>
              <a:t>De los datos a la decisión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Concentración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Territorio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160520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4306824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Ejecución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01 | Concentración de la contratación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¿Cómo se concentra la contratación de INVIAS entre proveedores, modalidades y tipos de contrato?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004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55063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CIFRA CLAVE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[Insertar cifra principal de Pregunta 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32004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3666744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[Insertar segundo hallazgo cuantitativo]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7315200" cy="3840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052"/>
                </a:solidFill>
              </a:defRPr>
            </a:pPr>
            <a:r>
              <a:t>VISUALIZACIÓN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5223" y="2788920"/>
            <a:ext cx="18543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66AA"/>
                </a:solidFill>
              </a:defRPr>
            </a:pPr>
            <a:r>
              <a:rPr dirty="0"/>
              <a:t>INSIGHT EJECUTIVO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02 | Distribución y trazabilidad territorial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¿Dónde se concentran los recursos y qué nivel de trazabilidad territorial puede obtenerse?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583680" cy="42519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734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052"/>
                </a:solidFill>
              </a:defRPr>
            </a:pPr>
            <a:r>
              <a:rPr dirty="0"/>
              <a:t>MÓDULO DE DISTRIBUCIÓN TERRITORIAL EN EL TABLERO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9319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563624"/>
            <a:ext cx="35661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 01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43 % de los contratos puede ubicarse en un departamento, pero concentra el 77,9 % del valor. Lo no ubicable es el 56,7 % de los registros y solo el 22,1 % del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108960"/>
            <a:ext cx="39319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3255264"/>
            <a:ext cx="35661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HALLAZGO 02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La trazabilidad se está perdiendo: 85–95 % entre 2018 y 2022, 76 % en 2023 y 2024, y 46 % en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31920" cy="8686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4946904"/>
            <a:ext cx="35661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872D"/>
                </a:solidFill>
              </a:defRPr>
            </a:pPr>
            <a:r>
              <a:t>IMPLICACIÓN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Uno de cada cinco pesos no es rastreable territorialmente desde lo que publica el SECOP 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19C6468-D23B-32F9-49F2-8CA61769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68" y="2057400"/>
            <a:ext cx="4883336" cy="35890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03 | Ejecución financiera y modificaciones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¿Dónde debemos focalizar el seguimiento?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20.718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contratos analizados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C872D"/>
                </a:solidFill>
              </a:defRPr>
            </a:pPr>
            <a:r>
              <a:t>54,6 %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 0 % de ejecución registrada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298448"/>
            <a:ext cx="3429000" cy="102412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1417319"/>
            <a:ext cx="315468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8264"/>
                </a:solidFill>
              </a:defRPr>
            </a:pPr>
            <a:r>
              <a:t>750</a:t>
            </a:r>
          </a:p>
          <a:p>
            <a:pPr algn="ctr">
              <a:defRPr sz="1000">
                <a:solidFill>
                  <a:srgbClr val="232B32"/>
                </a:solidFill>
              </a:defRPr>
            </a:pPr>
            <a:r>
              <a:t>contratos prioritarios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542032"/>
            <a:ext cx="672084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651759"/>
            <a:ext cx="6172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052"/>
                </a:solidFill>
              </a:defRPr>
            </a:pPr>
            <a:r>
              <a:rPr dirty="0"/>
              <a:t>VISUALIZACIÓN PRINCIPAL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703320"/>
            <a:ext cx="5897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7382"/>
                </a:solidFill>
              </a:defRPr>
            </a:pPr>
            <a:r>
              <a:t>INSERTAR PANTALLAZO / GRÁFICO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70832"/>
            <a:ext cx="5897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382"/>
                </a:solidFill>
              </a:defRPr>
            </a:pPr>
            <a:r>
              <a:t>Sugerido: distribución por nivel de ejecución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542032"/>
            <a:ext cx="3941063" cy="1207008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54112" y="2688336"/>
            <a:ext cx="361187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366AA"/>
                </a:solidFill>
              </a:defRPr>
            </a:pPr>
            <a:r>
              <a:t>REGLA DE PRIORIZACIÓN</a:t>
            </a:r>
          </a:p>
          <a:p>
            <a:pPr>
              <a:spcBef>
                <a:spcPts val="500"/>
              </a:spcBef>
              <a:defRPr sz="1100">
                <a:solidFill>
                  <a:srgbClr val="232B32"/>
                </a:solidFill>
              </a:defRPr>
            </a:pPr>
            <a:r>
              <a:t>P90 de recursos pendientes de ejecución + P90 de días adicionados.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913632"/>
            <a:ext cx="3941063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112" y="4059936"/>
            <a:ext cx="36118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872D"/>
                </a:solidFill>
              </a:defRPr>
            </a:pPr>
            <a:r>
              <a:t>SEÑAL CLAVE</a:t>
            </a:r>
          </a:p>
          <a:p>
            <a:pPr>
              <a:spcBef>
                <a:spcPts val="500"/>
              </a:spcBef>
              <a:defRPr sz="1100">
                <a:solidFill>
                  <a:srgbClr val="232B32"/>
                </a:solidFill>
              </a:defRPr>
            </a:pPr>
            <a:r>
              <a:t>100 % de los contratos prioritarios presenta extensión contractual.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3052"/>
                </a:solidFill>
              </a:defRPr>
            </a:pPr>
            <a:r>
              <a:t>INSIGHT: pasar de 20.718 contratos a un universo focalizado de 750 casos para seguimiento.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6441D66-A37D-A733-0D1F-6D27C683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467" y="3011184"/>
            <a:ext cx="3980905" cy="20700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De los datos a la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El análisis transforma información masiva en señales de seguimiento focalizadas.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DATOS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20.718 contratos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ANÁLISIS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Patrones + señales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9944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PRIORIZACIÓN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750 contratos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8824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66AA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7736" y="2057400"/>
            <a:ext cx="242316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0616" y="2203704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8264"/>
                </a:solidFill>
              </a:defRPr>
            </a:pPr>
            <a:r>
              <a:t>SEGUIMIENTO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Información focalizada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052"/>
                </a:solidFill>
              </a:defRPr>
            </a:pPr>
            <a:r>
              <a:t>El análisis no reemplaza la revisión contractual: ayuda a decidir dónde concentrarla.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Universidad de los Andes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2"/>
                </a:solidFill>
                <a:latin typeface="Aptos Display"/>
              </a:defRPr>
            </a:pPr>
            <a:r>
              <a:t>El tablero | De la analítica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2"/>
                </a:solidFill>
                <a:latin typeface="Aptos"/>
              </a:defRPr>
            </a:pPr>
            <a:r>
              <a:t>Explorar • Analizar • Priorizar • Consultar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498079" cy="438912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647382"/>
                </a:solidFill>
              </a:defRPr>
            </a:pPr>
            <a:r>
              <a:t>INSERTAR CAPTURA DEL TABLERO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EXPLORAR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Filtros interactivos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256946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ANALIZAR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Indicadores y visualizaciones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42900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357530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8264"/>
                </a:solidFill>
              </a:defRPr>
            </a:pPr>
            <a:r>
              <a:t>PRIORIZAR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Contratos para seguimiento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434840"/>
            <a:ext cx="2971800" cy="777240"/>
          </a:xfrm>
          <a:prstGeom prst="round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458114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66AA"/>
                </a:solidFill>
              </a:defRPr>
            </a:pPr>
            <a:r>
              <a:t>CONSULTAR</a:t>
            </a:r>
          </a:p>
          <a:p>
            <a:pPr>
              <a:spcBef>
                <a:spcPts val="600"/>
              </a:spcBef>
              <a:defRPr sz="1200">
                <a:solidFill>
                  <a:srgbClr val="232B32"/>
                </a:solidFill>
              </a:defRPr>
            </a:pPr>
            <a:r>
              <a:t>Detalle contractual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52"/>
                </a:solidFill>
              </a:defRPr>
            </a:pPr>
            <a:r>
              <a:t>DEMO EN VIVO  |  Vista general → Q1 → Q2 → Q3 → filtros → 750 prioritarios → detalle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82"/>
                </a:solidFill>
              </a:defRPr>
            </a:pPr>
            <a:r>
              <a:t>Proyecto 1 | INVIAS | Demo del tablero | Máximo 10 minutos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D395C04-34D9-12B7-0238-8EB4CACB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1666717"/>
            <a:ext cx="6757416" cy="105568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A645B2B-7D39-25A3-0DFC-D4F4A4476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2749114"/>
            <a:ext cx="6757416" cy="24405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367</Words>
  <Application>Microsoft Macintosh PowerPoint</Application>
  <PresentationFormat>Panorámica</PresentationFormat>
  <Paragraphs>76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Hernando Calderon Garcia</cp:lastModifiedBy>
  <cp:revision>3</cp:revision>
  <dcterms:created xsi:type="dcterms:W3CDTF">2013-01-27T09:14:16Z</dcterms:created>
  <dcterms:modified xsi:type="dcterms:W3CDTF">2026-09-14T20:40:04Z</dcterms:modified>
  <cp:category/>
</cp:coreProperties>
</file>